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0"/>
            <a:ext cx="2377440" cy="2377440"/>
          </a:xfrm>
          <a:prstGeom prst="ellipse">
            <a:avLst/>
          </a:prstGeom>
          <a:solidFill>
            <a:srgbClr val="10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D9C6"/>
                </a:solidFill>
                <a:latin typeface="Source Han Sans CN"/>
                <a:ea typeface="Source Han Sans CN"/>
              </a:rPr>
              <a:t>GOAI 2026 · AGENT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94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BB0D0"/>
                </a:solidFill>
                <a:latin typeface="Source Han Sans CN"/>
                <a:ea typeface="Source Han Sans CN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55680" cy="0"/>
          </a:xfrm>
          <a:prstGeom prst="line">
            <a:avLst/>
          </a:prstGeom>
          <a:ln w="10160">
            <a:solidFill>
              <a:srgbClr val="174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051560"/>
            <a:ext cx="32004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800" b="1">
                <a:solidFill>
                  <a:srgbClr val="F7FAFF"/>
                </a:solidFill>
                <a:latin typeface="Source Han Sans CN"/>
                <a:ea typeface="Source Han Sans CN"/>
              </a:rPr>
              <a:t>ECS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20240"/>
            <a:ext cx="68580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F7FAFF"/>
                </a:solidFill>
                <a:latin typeface="Source Han Sans CN"/>
                <a:ea typeface="Source Han Sans CN"/>
              </a:rPr>
              <a:t>可信会议督办闭环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79192"/>
            <a:ext cx="74980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9BB0D0"/>
                </a:solidFill>
                <a:latin typeface="Source Han Sans CN"/>
                <a:ea typeface="Source Han Sans CN"/>
              </a:rPr>
              <a:t>让多 Agent 的每次行动都可授权、可验证、可追溯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337560"/>
            <a:ext cx="1600200" cy="310896"/>
          </a:xfrm>
          <a:prstGeom prst="roundRect">
            <a:avLst>
              <a:gd name="adj" fmla="val 8000"/>
            </a:avLst>
          </a:prstGeom>
          <a:solidFill>
            <a:srgbClr val="246BFD"/>
          </a:solidFill>
          <a:ln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346703"/>
            <a:ext cx="1600200" cy="2651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F7FAFF"/>
                </a:solidFill>
                <a:latin typeface="Source Han Sans CN"/>
                <a:ea typeface="Source Han Sans CN"/>
              </a:rPr>
              <a:t>AgentTeams 协作层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87168" y="3337560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16D9C6"/>
          </a:solidFill>
          <a:ln>
            <a:solidFill>
              <a:srgbClr val="16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3346703"/>
            <a:ext cx="1691640" cy="2651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07152F"/>
                </a:solidFill>
                <a:latin typeface="Source Han Sans CN"/>
                <a:ea typeface="Source Han Sans CN"/>
              </a:rPr>
              <a:t>ECS 可信执行层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3337560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FFD45A"/>
          </a:solidFill>
          <a:ln>
            <a:solidFill>
              <a:srgbClr val="FFD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3346703"/>
            <a:ext cx="1325880" cy="2651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07152F"/>
                </a:solidFill>
                <a:latin typeface="Source Han Sans CN"/>
                <a:ea typeface="Source Han Sans CN"/>
              </a:rPr>
              <a:t>APACHE-2.0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371600"/>
            <a:ext cx="1993392" cy="1993392"/>
          </a:xfrm>
          <a:prstGeom prst="roundRect">
            <a:avLst>
              <a:gd name="adj" fmla="val 8000"/>
            </a:avLst>
          </a:prstGeom>
          <a:solidFill>
            <a:srgbClr val="103D9A"/>
          </a:solidFill>
          <a:ln w="12700"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9354312" y="1828800"/>
            <a:ext cx="841248" cy="1051560"/>
          </a:xfrm>
          <a:prstGeom prst="triangle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5074920"/>
            <a:ext cx="51206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6D9C6"/>
                </a:solidFill>
                <a:latin typeface="Source Han Sans CN"/>
                <a:ea typeface="Source Han Sans CN"/>
              </a:rPr>
              <a:t>GOAI 2026 · 新智基座 Agent Infra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486400"/>
            <a:ext cx="53035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9BB0D0"/>
                </a:solidFill>
                <a:latin typeface="Source Han Sans CN"/>
                <a:ea typeface="Source Han Sans CN"/>
              </a:rPr>
              <a:t>ECS Team  ·  初赛方案  ·  ECS 0.3.0 兼容线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0"/>
            <a:ext cx="2377440" cy="2377440"/>
          </a:xfrm>
          <a:prstGeom prst="ellipse">
            <a:avLst/>
          </a:prstGeom>
          <a:solidFill>
            <a:srgbClr val="10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D9C6"/>
                </a:solidFill>
                <a:latin typeface="Source Han Sans CN"/>
                <a:ea typeface="Source Han Sans CN"/>
              </a:rPr>
              <a:t>GOAI 2026 · AGENT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94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BB0D0"/>
                </a:solidFill>
                <a:latin typeface="Source Han Sans CN"/>
                <a:ea typeface="Source Han Sans CN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55680" cy="0"/>
          </a:xfrm>
          <a:prstGeom prst="line">
            <a:avLst/>
          </a:prstGeom>
          <a:ln w="10160">
            <a:solidFill>
              <a:srgbClr val="174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7FAFF"/>
                </a:solidFill>
                <a:latin typeface="Source Han Sans CN"/>
                <a:ea typeface="Source Han Sans CN"/>
              </a:rPr>
              <a:t>P0 · 一页纸速览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用一页对齐场景、方案、差异化、复用价值和当前证据。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19072"/>
            <a:ext cx="3493008" cy="1783080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19072"/>
            <a:ext cx="54864" cy="1783080"/>
          </a:xfrm>
          <a:prstGeom prst="rect">
            <a:avLst/>
          </a:prstGeom>
          <a:solidFill>
            <a:srgbClr val="246BFD"/>
          </a:solidFill>
          <a:ln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83664"/>
            <a:ext cx="303580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F7FAFF"/>
                </a:solidFill>
                <a:latin typeface="Source Han Sans CN"/>
                <a:ea typeface="Source Han Sans CN"/>
              </a:rPr>
              <a:t>项目与场景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3035808" cy="10332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0" b="0">
                <a:solidFill>
                  <a:srgbClr val="9BB0D0"/>
                </a:solidFill>
                <a:latin typeface="Source Han Sans CN"/>
                <a:ea typeface="Source Han Sans CN"/>
              </a:rPr>
              <a:t>ECS：可信会议督办闭环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0" b="0">
                <a:solidFill>
                  <a:srgbClr val="9BB0D0"/>
                </a:solidFill>
                <a:latin typeface="Source Han Sans CN"/>
                <a:ea typeface="Source Han Sans CN"/>
              </a:rPr>
              <a:t>面向公共管理和企业管理中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0" b="0">
                <a:solidFill>
                  <a:srgbClr val="9BB0D0"/>
                </a:solidFill>
                <a:latin typeface="Source Han Sans CN"/>
                <a:ea typeface="Source Han Sans CN"/>
              </a:rPr>
              <a:t>需要审批、派发和追责的会后行动。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19072"/>
            <a:ext cx="3493008" cy="1783080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19072"/>
            <a:ext cx="54864" cy="1783080"/>
          </a:xfrm>
          <a:prstGeom prst="rect">
            <a:avLst/>
          </a:prstGeom>
          <a:solidFill>
            <a:srgbClr val="FF5C8A"/>
          </a:solidFill>
          <a:ln>
            <a:solidFill>
              <a:srgbClr val="FF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883664"/>
            <a:ext cx="3035807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F7FAFF"/>
                </a:solidFill>
                <a:latin typeface="Source Han Sans CN"/>
                <a:ea typeface="Source Han Sans CN"/>
              </a:rPr>
              <a:t>真实问题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331720"/>
            <a:ext cx="3035808" cy="10332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0" b="0">
                <a:solidFill>
                  <a:srgbClr val="9BB0D0"/>
                </a:solidFill>
                <a:latin typeface="Source Han Sans CN"/>
                <a:ea typeface="Source Han Sans CN"/>
              </a:rPr>
              <a:t>纪要有了，事情却没发生：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0" b="0">
                <a:solidFill>
                  <a:srgbClr val="9BB0D0"/>
                </a:solidFill>
                <a:latin typeface="Source Han Sans CN"/>
                <a:ea typeface="Source Han Sans CN"/>
              </a:rPr>
              <a:t>责任人/期限缺失、高风险动作越权、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0" b="0">
                <a:solidFill>
                  <a:srgbClr val="9BB0D0"/>
                </a:solidFill>
                <a:latin typeface="Source Han Sans CN"/>
                <a:ea typeface="Source Han Sans CN"/>
              </a:rPr>
              <a:t>执行结果无法证明。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1" y="1719072"/>
            <a:ext cx="3493008" cy="1783080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11311" y="1719072"/>
            <a:ext cx="54864" cy="1783080"/>
          </a:xfrm>
          <a:prstGeom prst="rect">
            <a:avLst/>
          </a:prstGeom>
          <a:solidFill>
            <a:srgbClr val="16D9C6"/>
          </a:solidFill>
          <a:ln>
            <a:solidFill>
              <a:srgbClr val="16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3" y="1883664"/>
            <a:ext cx="303580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F7FAFF"/>
                </a:solidFill>
                <a:latin typeface="Source Han Sans CN"/>
                <a:ea typeface="Source Han Sans CN"/>
              </a:rPr>
              <a:t>核心方案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3" y="2331720"/>
            <a:ext cx="3035808" cy="10332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0" b="0">
                <a:solidFill>
                  <a:srgbClr val="9BB0D0"/>
                </a:solidFill>
                <a:latin typeface="Source Han Sans CN"/>
                <a:ea typeface="Source Han Sans CN"/>
              </a:rPr>
              <a:t>AgentTeams 编排多 Agent；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0" b="0">
                <a:solidFill>
                  <a:srgbClr val="9BB0D0"/>
                </a:solidFill>
                <a:latin typeface="Source Han Sans CN"/>
                <a:ea typeface="Source Han Sans CN"/>
              </a:rPr>
              <a:t>ECS 用 Stage→Skill→Connector 执行，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0" b="0">
                <a:solidFill>
                  <a:srgbClr val="9BB0D0"/>
                </a:solidFill>
                <a:latin typeface="Source Han Sans CN"/>
                <a:ea typeface="Source Han Sans CN"/>
              </a:rPr>
              <a:t>人工审批后验证 Receipt。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831335"/>
            <a:ext cx="3493008" cy="1783080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831335"/>
            <a:ext cx="54864" cy="1783080"/>
          </a:xfrm>
          <a:prstGeom prst="rect">
            <a:avLst/>
          </a:prstGeom>
          <a:solidFill>
            <a:srgbClr val="FFD45A"/>
          </a:solidFill>
          <a:ln>
            <a:solidFill>
              <a:srgbClr val="FFD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995927"/>
            <a:ext cx="303580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F7FAFF"/>
                </a:solidFill>
                <a:latin typeface="Source Han Sans CN"/>
                <a:ea typeface="Source Han Sans CN"/>
              </a:rPr>
              <a:t>创新与差异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443983"/>
            <a:ext cx="3035808" cy="10332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0" b="0">
                <a:solidFill>
                  <a:srgbClr val="9BB0D0"/>
                </a:solidFill>
                <a:latin typeface="Source Han Sans CN"/>
                <a:ea typeface="Source Han Sans CN"/>
              </a:rPr>
              <a:t>小模型只理解意图与补参；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0" b="0">
                <a:solidFill>
                  <a:srgbClr val="9BB0D0"/>
                </a:solidFill>
                <a:latin typeface="Source Han Sans CN"/>
                <a:ea typeface="Source Han Sans CN"/>
              </a:rPr>
              <a:t>权限、Schema、状态、重试、回执和审计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0" b="0">
                <a:solidFill>
                  <a:srgbClr val="9BB0D0"/>
                </a:solidFill>
                <a:latin typeface="Source Han Sans CN"/>
                <a:ea typeface="Source Han Sans CN"/>
              </a:rPr>
              <a:t>留在确定性 Go 内核。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831335"/>
            <a:ext cx="3493008" cy="1783080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831335"/>
            <a:ext cx="54864" cy="1783080"/>
          </a:xfrm>
          <a:prstGeom prst="rect">
            <a:avLst/>
          </a:prstGeom>
          <a:solidFill>
            <a:srgbClr val="246BFD"/>
          </a:solidFill>
          <a:ln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2" y="3995927"/>
            <a:ext cx="3035807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F7FAFF"/>
                </a:solidFill>
                <a:latin typeface="Source Han Sans CN"/>
                <a:ea typeface="Source Han Sans CN"/>
              </a:rPr>
              <a:t>开放 / 复用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4443983"/>
            <a:ext cx="3035808" cy="10332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0" b="0">
                <a:solidFill>
                  <a:srgbClr val="9BB0D0"/>
                </a:solidFill>
                <a:latin typeface="Source Han Sans CN"/>
                <a:ea typeface="Source Han Sans CN"/>
              </a:rPr>
              <a:t>复用 Tool / Skill / Office 契约；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0" b="0">
                <a:solidFill>
                  <a:srgbClr val="9BB0D0"/>
                </a:solidFill>
                <a:latin typeface="Source Han Sans CN"/>
                <a:ea typeface="Source Han Sans CN"/>
              </a:rPr>
              <a:t>提供双路径回归、AgentTeams 补丁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0" b="0">
                <a:solidFill>
                  <a:srgbClr val="9BB0D0"/>
                </a:solidFill>
                <a:latin typeface="Source Han Sans CN"/>
                <a:ea typeface="Source Han Sans CN"/>
              </a:rPr>
              <a:t>与多平台交付资产；采用 Apache-2.0。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11311" y="3831335"/>
            <a:ext cx="3493008" cy="1783080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11311" y="3831335"/>
            <a:ext cx="54864" cy="1783080"/>
          </a:xfrm>
          <a:prstGeom prst="rect">
            <a:avLst/>
          </a:prstGeom>
          <a:solidFill>
            <a:srgbClr val="42D392"/>
          </a:solidFill>
          <a:ln>
            <a:solidFill>
              <a:srgbClr val="42D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3" y="3995927"/>
            <a:ext cx="303580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F7FAFF"/>
                </a:solidFill>
                <a:latin typeface="Source Han Sans CN"/>
                <a:ea typeface="Source Han Sans CN"/>
              </a:rPr>
              <a:t>当前进展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3" y="4443983"/>
            <a:ext cx="3035808" cy="10332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0" b="0">
                <a:solidFill>
                  <a:srgbClr val="9BB0D0"/>
                </a:solidFill>
                <a:latin typeface="Source Han Sans CN"/>
                <a:ea typeface="Source Han Sans CN"/>
              </a:rPr>
              <a:t>4 角色 · 5 个闭环 Skill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0" b="0">
                <a:solidFill>
                  <a:srgbClr val="9BB0D0"/>
                </a:solidFill>
                <a:latin typeface="Source Han Sans CN"/>
                <a:ea typeface="Source Han Sans CN"/>
              </a:rPr>
              <a:t>双路径×5 · 3 节点 Trace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10" b="0">
                <a:solidFill>
                  <a:srgbClr val="9BB0D0"/>
                </a:solidFill>
                <a:latin typeface="Source Han Sans CN"/>
                <a:ea typeface="Source Han Sans CN"/>
              </a:rPr>
              <a:t>Qwen3 0.6B / 1.7B 证据已留存。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0"/>
            <a:ext cx="2377440" cy="2377440"/>
          </a:xfrm>
          <a:prstGeom prst="ellipse">
            <a:avLst/>
          </a:prstGeom>
          <a:solidFill>
            <a:srgbClr val="10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D9C6"/>
                </a:solidFill>
                <a:latin typeface="Source Han Sans CN"/>
                <a:ea typeface="Source Han Sans CN"/>
              </a:rPr>
              <a:t>GOAI 2026 · AGENT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94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BB0D0"/>
                </a:solidFill>
                <a:latin typeface="Source Han Sans CN"/>
                <a:ea typeface="Source Han Sans CN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55680" cy="0"/>
          </a:xfrm>
          <a:prstGeom prst="line">
            <a:avLst/>
          </a:prstGeom>
          <a:ln w="10160">
            <a:solidFill>
              <a:srgbClr val="174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7FAFF"/>
                </a:solidFill>
                <a:latin typeface="Source Han Sans CN"/>
                <a:ea typeface="Source Han Sans CN"/>
              </a:rPr>
              <a:t>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按官方初赛模板的八个章节组织。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73352"/>
            <a:ext cx="5074920" cy="80467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837944"/>
            <a:ext cx="6217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6D9C6"/>
                </a:solidFill>
                <a:latin typeface="Source Han Sans CN"/>
                <a:ea typeface="Source Han Sans CN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3352" y="1847088"/>
            <a:ext cx="374903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Source Han Sans CN"/>
                <a:ea typeface="Source Han Sans CN"/>
              </a:rPr>
              <a:t>场景与价值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673352"/>
            <a:ext cx="5074920" cy="80467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837944"/>
            <a:ext cx="6217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6D9C6"/>
                </a:solidFill>
                <a:latin typeface="Source Han Sans CN"/>
                <a:ea typeface="Source Han Sans CN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1192" y="1847088"/>
            <a:ext cx="374903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Source Han Sans CN"/>
                <a:ea typeface="Source Han Sans CN"/>
              </a:rPr>
              <a:t>方案总览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752344"/>
            <a:ext cx="5074920" cy="80467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916936"/>
            <a:ext cx="6217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6D9C6"/>
                </a:solidFill>
                <a:latin typeface="Source Han Sans CN"/>
                <a:ea typeface="Source Han Sans CN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3352" y="2926079"/>
            <a:ext cx="374903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Source Han Sans CN"/>
                <a:ea typeface="Source Han Sans CN"/>
              </a:rPr>
              <a:t>多 Agent 协同设计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2752344"/>
            <a:ext cx="5074920" cy="80467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916936"/>
            <a:ext cx="6217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6D9C6"/>
                </a:solidFill>
                <a:latin typeface="Source Han Sans CN"/>
                <a:ea typeface="Source Han Sans CN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2926079"/>
            <a:ext cx="374903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Source Han Sans CN"/>
                <a:ea typeface="Source Han Sans CN"/>
              </a:rPr>
              <a:t>Skill 工程体系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831335"/>
            <a:ext cx="5074920" cy="80467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995927"/>
            <a:ext cx="6217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6D9C6"/>
                </a:solidFill>
                <a:latin typeface="Source Han Sans CN"/>
                <a:ea typeface="Source Han Sans CN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3352" y="4005072"/>
            <a:ext cx="374903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Source Han Sans CN"/>
                <a:ea typeface="Source Han Sans CN"/>
              </a:rPr>
              <a:t>工程落地与安全审计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831335"/>
            <a:ext cx="5074920" cy="80467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995927"/>
            <a:ext cx="6217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6D9C6"/>
                </a:solidFill>
                <a:latin typeface="Source Han Sans CN"/>
                <a:ea typeface="Source Han Sans CN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1192" y="4005072"/>
            <a:ext cx="374903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Source Han Sans CN"/>
                <a:ea typeface="Source Han Sans CN"/>
              </a:rPr>
              <a:t>开放 / 开源计划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910328"/>
            <a:ext cx="5074920" cy="80467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5074920"/>
            <a:ext cx="6217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6D9C6"/>
                </a:solidFill>
                <a:latin typeface="Source Han Sans CN"/>
                <a:ea typeface="Source Han Sans CN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73352" y="5084064"/>
            <a:ext cx="374903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Source Han Sans CN"/>
                <a:ea typeface="Source Han Sans CN"/>
              </a:rPr>
              <a:t>落地计划与进展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1072" y="4910328"/>
            <a:ext cx="5074920" cy="80467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5074920"/>
            <a:ext cx="6217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6D9C6"/>
                </a:solidFill>
                <a:latin typeface="Source Han Sans CN"/>
                <a:ea typeface="Source Han Sans CN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1192" y="5084064"/>
            <a:ext cx="374903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Source Han Sans CN"/>
                <a:ea typeface="Source Han Sans CN"/>
              </a:rPr>
              <a:t>团队介绍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0"/>
            <a:ext cx="2377440" cy="2377440"/>
          </a:xfrm>
          <a:prstGeom prst="ellipse">
            <a:avLst/>
          </a:prstGeom>
          <a:solidFill>
            <a:srgbClr val="10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D9C6"/>
                </a:solidFill>
                <a:latin typeface="Source Han Sans CN"/>
                <a:ea typeface="Source Han Sans CN"/>
              </a:rPr>
              <a:t>GOAI 2026 · AGENT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94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BB0D0"/>
                </a:solidFill>
                <a:latin typeface="Source Han Sans CN"/>
                <a:ea typeface="Source Han Sans CN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55680" cy="0"/>
          </a:xfrm>
          <a:prstGeom prst="line">
            <a:avLst/>
          </a:prstGeom>
          <a:ln w="10160">
            <a:solidFill>
              <a:srgbClr val="174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005840"/>
            <a:ext cx="14630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800" b="1">
                <a:solidFill>
                  <a:srgbClr val="16D9C6"/>
                </a:solidFill>
                <a:latin typeface="Source Han Sans CN"/>
                <a:ea typeface="Source Han Sans CN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234440"/>
            <a:ext cx="8503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700" b="1">
                <a:solidFill>
                  <a:srgbClr val="F7FAFF"/>
                </a:solidFill>
                <a:latin typeface="Source Han Sans CN"/>
                <a:ea typeface="Source Han Sans CN"/>
              </a:rPr>
              <a:t>场景与价值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240280"/>
            <a:ext cx="8503920" cy="0"/>
          </a:xfrm>
          <a:prstGeom prst="line">
            <a:avLst/>
          </a:prstGeom>
          <a:ln w="30480">
            <a:solidFill>
              <a:srgbClr val="246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84831" y="2606040"/>
            <a:ext cx="1572768" cy="310896"/>
          </a:xfrm>
          <a:prstGeom prst="roundRect">
            <a:avLst>
              <a:gd name="adj" fmla="val 8000"/>
            </a:avLst>
          </a:prstGeom>
          <a:solidFill>
            <a:srgbClr val="246BFD"/>
          </a:solidFill>
          <a:ln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4831" y="2615184"/>
            <a:ext cx="1572768" cy="2651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F7FAFF"/>
                </a:solidFill>
                <a:latin typeface="Source Han Sans CN"/>
                <a:ea typeface="Source Han Sans CN"/>
              </a:rPr>
              <a:t>评分权重  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246120"/>
            <a:ext cx="80467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9BB0D0"/>
                </a:solidFill>
                <a:latin typeface="Source Han Sans CN"/>
                <a:ea typeface="Source Han Sans CN"/>
              </a:rPr>
              <a:t>从会议纪要到真实行动，把“责任、执行、验证”变成可检查的管理闭环。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0"/>
            <a:ext cx="2377440" cy="2377440"/>
          </a:xfrm>
          <a:prstGeom prst="ellipse">
            <a:avLst/>
          </a:prstGeom>
          <a:solidFill>
            <a:srgbClr val="10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D9C6"/>
                </a:solidFill>
                <a:latin typeface="Source Han Sans CN"/>
                <a:ea typeface="Source Han Sans CN"/>
              </a:rPr>
              <a:t>GOAI 2026 · AGENT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94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BB0D0"/>
                </a:solidFill>
                <a:latin typeface="Source Han Sans CN"/>
                <a:ea typeface="Source Han Sans CN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55680" cy="0"/>
          </a:xfrm>
          <a:prstGeom prst="line">
            <a:avLst/>
          </a:prstGeom>
          <a:ln w="10160">
            <a:solidFill>
              <a:srgbClr val="174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7FAFF"/>
                </a:solidFill>
                <a:latin typeface="Source Han Sans CN"/>
                <a:ea typeface="Source Han Sans CN"/>
              </a:rPr>
              <a:t>会议纪要生成了，但事情仍然没有发生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目标用户：需要跨部门协作、审批和结果追踪的公共管理者、企业管理者与项目团队。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55648"/>
            <a:ext cx="3456432" cy="1572768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55648"/>
            <a:ext cx="54864" cy="1572768"/>
          </a:xfrm>
          <a:prstGeom prst="rect">
            <a:avLst/>
          </a:prstGeom>
          <a:solidFill>
            <a:srgbClr val="FF5C8A"/>
          </a:solidFill>
          <a:ln>
            <a:solidFill>
              <a:srgbClr val="FF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7" y="1956816"/>
            <a:ext cx="310896" cy="310896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961388"/>
            <a:ext cx="3108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7FAFF"/>
                </a:solidFill>
                <a:latin typeface="Source Han Sans CN"/>
                <a:ea typeface="Source Han Sans CN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1920240"/>
            <a:ext cx="2633471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7FAFF"/>
                </a:solidFill>
                <a:latin typeface="Source Han Sans CN"/>
                <a:ea typeface="Source Han Sans CN"/>
              </a:rPr>
              <a:t>责任不完整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368296"/>
            <a:ext cx="299923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9BB0D0"/>
                </a:solidFill>
                <a:latin typeface="Source Han Sans CN"/>
                <a:ea typeface="Source Han Sans CN"/>
              </a:rPr>
              <a:t>责任人、期限或原文依据缺失时，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9BB0D0"/>
                </a:solidFill>
                <a:latin typeface="Source Han Sans CN"/>
                <a:ea typeface="Source Han Sans CN"/>
              </a:rPr>
              <a:t>模型容易自行补全。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62272" y="1755648"/>
            <a:ext cx="3456432" cy="1572768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62272" y="1755648"/>
            <a:ext cx="54864" cy="1572768"/>
          </a:xfrm>
          <a:prstGeom prst="rect">
            <a:avLst/>
          </a:prstGeom>
          <a:solidFill>
            <a:srgbClr val="FFD45A"/>
          </a:solidFill>
          <a:ln>
            <a:solidFill>
              <a:srgbClr val="FFD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63440" y="1956816"/>
            <a:ext cx="310896" cy="310896"/>
          </a:xfrm>
          <a:prstGeom prst="ellipse">
            <a:avLst/>
          </a:prstGeom>
          <a:solidFill>
            <a:srgbClr val="FFD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961388"/>
            <a:ext cx="3108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7FAFF"/>
                </a:solidFill>
                <a:latin typeface="Source Han Sans CN"/>
                <a:ea typeface="Source Han Sans CN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20240"/>
            <a:ext cx="263347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7FAFF"/>
                </a:solidFill>
                <a:latin typeface="Source Han Sans CN"/>
                <a:ea typeface="Source Han Sans CN"/>
              </a:rPr>
              <a:t>动作不可控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8304" y="2368296"/>
            <a:ext cx="299923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9BB0D0"/>
                </a:solidFill>
                <a:latin typeface="Source Han Sans CN"/>
                <a:ea typeface="Source Han Sans CN"/>
              </a:rPr>
              <a:t>任务、日历和通知一旦越权，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9BB0D0"/>
                </a:solidFill>
                <a:latin typeface="Source Han Sans CN"/>
                <a:ea typeface="Source Han Sans CN"/>
              </a:rPr>
              <a:t>或发生重复执行，代价将落到真实组织。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1755648"/>
            <a:ext cx="3456432" cy="1572768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4463" y="1755648"/>
            <a:ext cx="54864" cy="1572768"/>
          </a:xfrm>
          <a:prstGeom prst="rect">
            <a:avLst/>
          </a:prstGeom>
          <a:solidFill>
            <a:srgbClr val="246BFD"/>
          </a:solidFill>
          <a:ln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85632" y="1956816"/>
            <a:ext cx="310896" cy="310896"/>
          </a:xfrm>
          <a:prstGeom prst="ellipse">
            <a:avLst/>
          </a:prstGeom>
          <a:solidFill>
            <a:srgbClr val="246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1961388"/>
            <a:ext cx="3108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7FAFF"/>
                </a:solidFill>
                <a:latin typeface="Source Han Sans CN"/>
                <a:ea typeface="Source Han Sans CN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6255" y="1920240"/>
            <a:ext cx="263347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7FAFF"/>
                </a:solidFill>
                <a:latin typeface="Source Han Sans CN"/>
                <a:ea typeface="Source Han Sans CN"/>
              </a:rPr>
              <a:t>结果不可证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495" y="2368296"/>
            <a:ext cx="299923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9BB0D0"/>
                </a:solidFill>
                <a:latin typeface="Source Han Sans CN"/>
                <a:ea typeface="Source Han Sans CN"/>
              </a:rPr>
              <a:t>只有最终文本，没有审批和回执；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9BB0D0"/>
                </a:solidFill>
                <a:latin typeface="Source Han Sans CN"/>
                <a:ea typeface="Source Han Sans CN"/>
              </a:rPr>
              <a:t>失败位置与恢复过程无法核验。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730752"/>
            <a:ext cx="21945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6D9C6"/>
                </a:solidFill>
                <a:latin typeface="Source Han Sans CN"/>
                <a:ea typeface="Source Han Sans CN"/>
              </a:rPr>
              <a:t>DEMO 验收指标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224528"/>
            <a:ext cx="2505456" cy="1152144"/>
          </a:xfrm>
          <a:prstGeom prst="roundRect">
            <a:avLst>
              <a:gd name="adj" fmla="val 8000"/>
            </a:avLst>
          </a:prstGeom>
          <a:solidFill>
            <a:srgbClr val="102A57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4370832"/>
            <a:ext cx="2148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16D9C6"/>
                </a:solidFill>
                <a:latin typeface="Source Han Sans CN"/>
                <a:ea typeface="Source Han Sans CN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" y="484632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9BB0D0"/>
                </a:solidFill>
                <a:latin typeface="Source Han Sans CN"/>
                <a:ea typeface="Source Han Sans CN"/>
              </a:rPr>
              <a:t>未审批外部调用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11296" y="4224528"/>
            <a:ext cx="2505456" cy="1152144"/>
          </a:xfrm>
          <a:prstGeom prst="roundRect">
            <a:avLst>
              <a:gd name="adj" fmla="val 8000"/>
            </a:avLst>
          </a:prstGeom>
          <a:solidFill>
            <a:srgbClr val="102A57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75887" y="4370832"/>
            <a:ext cx="2148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16D9C6"/>
                </a:solidFill>
                <a:latin typeface="Source Han Sans CN"/>
                <a:ea typeface="Source Han Sans CN"/>
              </a:rPr>
              <a:t>5×2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48456" y="484632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9BB0D0"/>
                </a:solidFill>
                <a:latin typeface="Source Han Sans CN"/>
                <a:ea typeface="Source Han Sans CN"/>
              </a:rPr>
              <a:t>成功/失败路径回归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27648" y="4224528"/>
            <a:ext cx="2505456" cy="1152144"/>
          </a:xfrm>
          <a:prstGeom prst="roundRect">
            <a:avLst>
              <a:gd name="adj" fmla="val 8000"/>
            </a:avLst>
          </a:prstGeom>
          <a:solidFill>
            <a:srgbClr val="102A57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370832"/>
            <a:ext cx="2148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16D9C6"/>
                </a:solidFill>
                <a:latin typeface="Source Han Sans CN"/>
                <a:ea typeface="Source Han Sans CN"/>
              </a:rP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484632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9BB0D0"/>
                </a:solidFill>
                <a:latin typeface="Source Han Sans CN"/>
                <a:ea typeface="Source Han Sans CN"/>
              </a:rPr>
              <a:t>关键动作 Trace / Receipt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4224528"/>
            <a:ext cx="2505456" cy="1152144"/>
          </a:xfrm>
          <a:prstGeom prst="roundRect">
            <a:avLst>
              <a:gd name="adj" fmla="val 8000"/>
            </a:avLst>
          </a:prstGeom>
          <a:solidFill>
            <a:srgbClr val="102A57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08592" y="4370832"/>
            <a:ext cx="2148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16D9C6"/>
                </a:solidFill>
                <a:latin typeface="Source Han Sans CN"/>
                <a:ea typeface="Source Han Sans CN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484632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9BB0D0"/>
                </a:solidFill>
                <a:latin typeface="Source Han Sans CN"/>
                <a:ea typeface="Source Han Sans CN"/>
              </a:rPr>
              <a:t>同 Trace 真实节点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705856"/>
            <a:ext cx="80467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80" b="0">
                <a:solidFill>
                  <a:srgbClr val="9BB0D0"/>
                </a:solidFill>
                <a:latin typeface="Source Han Sans CN"/>
                <a:ea typeface="Source Han Sans CN"/>
              </a:rPr>
              <a:t>注：上述为工程 Demo 验收数据，不是真实客户业务效益。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0"/>
            <a:ext cx="2377440" cy="2377440"/>
          </a:xfrm>
          <a:prstGeom prst="ellipse">
            <a:avLst/>
          </a:prstGeom>
          <a:solidFill>
            <a:srgbClr val="10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D9C6"/>
                </a:solidFill>
                <a:latin typeface="Source Han Sans CN"/>
                <a:ea typeface="Source Han Sans CN"/>
              </a:rPr>
              <a:t>GOAI 2026 · AGENT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94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BB0D0"/>
                </a:solidFill>
                <a:latin typeface="Source Han Sans CN"/>
                <a:ea typeface="Source Han Sans CN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55680" cy="0"/>
          </a:xfrm>
          <a:prstGeom prst="line">
            <a:avLst/>
          </a:prstGeom>
          <a:ln w="10160">
            <a:solidFill>
              <a:srgbClr val="174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005840"/>
            <a:ext cx="14630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800" b="1">
                <a:solidFill>
                  <a:srgbClr val="16D9C6"/>
                </a:solidFill>
                <a:latin typeface="Source Han Sans CN"/>
                <a:ea typeface="Source Han Sans CN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234440"/>
            <a:ext cx="8503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700" b="1">
                <a:solidFill>
                  <a:srgbClr val="F7FAFF"/>
                </a:solidFill>
                <a:latin typeface="Source Han Sans CN"/>
                <a:ea typeface="Source Han Sans CN"/>
              </a:rPr>
              <a:t>方案总览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240280"/>
            <a:ext cx="8503920" cy="0"/>
          </a:xfrm>
          <a:prstGeom prst="line">
            <a:avLst/>
          </a:prstGeom>
          <a:ln w="30480">
            <a:solidFill>
              <a:srgbClr val="246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03120" y="3246120"/>
            <a:ext cx="80467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9BB0D0"/>
                </a:solidFill>
                <a:latin typeface="Source Han Sans CN"/>
                <a:ea typeface="Source Han Sans CN"/>
              </a:rPr>
              <a:t>AgentTeams 负责协作与拆解，ECS 负责能力约束、可信执行和证据留存。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0"/>
            <a:ext cx="2377440" cy="2377440"/>
          </a:xfrm>
          <a:prstGeom prst="ellipse">
            <a:avLst/>
          </a:prstGeom>
          <a:solidFill>
            <a:srgbClr val="10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D9C6"/>
                </a:solidFill>
                <a:latin typeface="Source Han Sans CN"/>
                <a:ea typeface="Source Han Sans CN"/>
              </a:rPr>
              <a:t>GOAI 2026 · AGENT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94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BB0D0"/>
                </a:solidFill>
                <a:latin typeface="Source Han Sans CN"/>
                <a:ea typeface="Source Han Sans CN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55680" cy="0"/>
          </a:xfrm>
          <a:prstGeom prst="line">
            <a:avLst/>
          </a:prstGeom>
          <a:ln w="10160">
            <a:solidFill>
              <a:srgbClr val="174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7FAFF"/>
                </a:solidFill>
                <a:latin typeface="Source Han Sans CN"/>
                <a:ea typeface="Source Han Sans CN"/>
              </a:rPr>
              <a:t>AgentTeams 协作层 × ECS 可信执行层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task_id / trace_id 贯通任务拆解、执行契约与审计证据。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01952"/>
            <a:ext cx="1627632" cy="245059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FF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075688"/>
            <a:ext cx="1307592" cy="310896"/>
          </a:xfrm>
          <a:prstGeom prst="roundRect">
            <a:avLst>
              <a:gd name="adj" fmla="val 8000"/>
            </a:avLst>
          </a:prstGeom>
          <a:solidFill>
            <a:srgbClr val="FF5C8A"/>
          </a:solidFill>
          <a:ln>
            <a:solidFill>
              <a:srgbClr val="FF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1307592" cy="2651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F7FAFF"/>
                </a:solidFill>
                <a:latin typeface="Source Han Sans CN"/>
                <a:ea typeface="Source Han Sans CN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788920"/>
            <a:ext cx="1307592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030" b="0">
                <a:solidFill>
                  <a:srgbClr val="F7FAFF"/>
                </a:solidFill>
                <a:latin typeface="Source Han Sans CN"/>
                <a:ea typeface="Source Han Sans CN"/>
              </a:rPr>
              <a:t>会议材料</a:t>
            </a:r>
          </a:p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030" b="0">
                <a:solidFill>
                  <a:srgbClr val="F7FAFF"/>
                </a:solidFill>
                <a:latin typeface="Source Han Sans CN"/>
                <a:ea typeface="Source Han Sans CN"/>
              </a:rPr>
              <a:t>目标 / 参与人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9696" y="2880360"/>
            <a:ext cx="274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6D9C6"/>
                </a:solidFill>
                <a:latin typeface="Source Han Sans CN"/>
                <a:ea typeface="Source Han Sans CN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04872" y="1901952"/>
            <a:ext cx="1627632" cy="245059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60320" y="2075688"/>
            <a:ext cx="1307592" cy="310896"/>
          </a:xfrm>
          <a:prstGeom prst="roundRect">
            <a:avLst>
              <a:gd name="adj" fmla="val 8000"/>
            </a:avLst>
          </a:prstGeom>
          <a:solidFill>
            <a:srgbClr val="246BFD"/>
          </a:solidFill>
          <a:ln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2084831"/>
            <a:ext cx="1307592" cy="2651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F7FAFF"/>
                </a:solidFill>
                <a:latin typeface="Source Han Sans CN"/>
                <a:ea typeface="Source Han Sans CN"/>
              </a:rPr>
              <a:t>AGENTTEAMS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788920"/>
            <a:ext cx="1307592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030" b="0">
                <a:solidFill>
                  <a:srgbClr val="F7FAFF"/>
                </a:solidFill>
                <a:latin typeface="Source Han Sans CN"/>
                <a:ea typeface="Source Han Sans CN"/>
              </a:rPr>
              <a:t>角色编排 · 任务拆解</a:t>
            </a:r>
          </a:p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030" b="0">
                <a:solidFill>
                  <a:srgbClr val="F7FAFF"/>
                </a:solidFill>
                <a:latin typeface="Source Han Sans CN"/>
                <a:ea typeface="Source Han Sans CN"/>
              </a:rPr>
              <a:t>上下文传递 · 状态追踪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1648" y="2880360"/>
            <a:ext cx="274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6D9C6"/>
                </a:solidFill>
                <a:latin typeface="Source Han Sans CN"/>
                <a:ea typeface="Source Han Sans CN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6824" y="1901952"/>
            <a:ext cx="1627632" cy="245059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16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62272" y="2075688"/>
            <a:ext cx="1307592" cy="310896"/>
          </a:xfrm>
          <a:prstGeom prst="roundRect">
            <a:avLst>
              <a:gd name="adj" fmla="val 8000"/>
            </a:avLst>
          </a:prstGeom>
          <a:solidFill>
            <a:srgbClr val="16D9C6"/>
          </a:solidFill>
          <a:ln>
            <a:solidFill>
              <a:srgbClr val="16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2084831"/>
            <a:ext cx="1307592" cy="2651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07152F"/>
                </a:solidFill>
                <a:latin typeface="Source Han Sans CN"/>
                <a:ea typeface="Source Han Sans CN"/>
              </a:rPr>
              <a:t>ECS OFFICE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2788920"/>
            <a:ext cx="1307592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030" b="0">
                <a:solidFill>
                  <a:srgbClr val="F7FAFF"/>
                </a:solidFill>
                <a:latin typeface="Source Han Sans CN"/>
                <a:ea typeface="Source Han Sans CN"/>
              </a:rPr>
              <a:t>Work Order · Stage</a:t>
            </a:r>
          </a:p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030" b="0">
                <a:solidFill>
                  <a:srgbClr val="F7FAFF"/>
                </a:solidFill>
                <a:latin typeface="Source Han Sans CN"/>
                <a:ea typeface="Source Han Sans CN"/>
              </a:rPr>
              <a:t>签名 office_grant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80360"/>
            <a:ext cx="274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6D9C6"/>
                </a:solidFill>
                <a:latin typeface="Source Han Sans CN"/>
                <a:ea typeface="Source Han Sans CN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1901952"/>
            <a:ext cx="1627632" cy="245059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FFD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64224" y="2075688"/>
            <a:ext cx="1307592" cy="310896"/>
          </a:xfrm>
          <a:prstGeom prst="roundRect">
            <a:avLst>
              <a:gd name="adj" fmla="val 8000"/>
            </a:avLst>
          </a:prstGeom>
          <a:solidFill>
            <a:srgbClr val="FFD45A"/>
          </a:solidFill>
          <a:ln>
            <a:solidFill>
              <a:srgbClr val="FFD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2084831"/>
            <a:ext cx="1307592" cy="2651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07152F"/>
                </a:solidFill>
                <a:latin typeface="Source Han Sans CN"/>
                <a:ea typeface="Source Han Sans CN"/>
              </a:rPr>
              <a:t>CAPABILITY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2788920"/>
            <a:ext cx="1307592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030" b="0">
                <a:solidFill>
                  <a:srgbClr val="F7FAFF"/>
                </a:solidFill>
                <a:latin typeface="Source Han Sans CN"/>
                <a:ea typeface="Source Han Sans CN"/>
              </a:rPr>
              <a:t>Skill · JSON Schema</a:t>
            </a:r>
          </a:p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030" b="0">
                <a:solidFill>
                  <a:srgbClr val="F7FAFF"/>
                </a:solidFill>
                <a:latin typeface="Source Han Sans CN"/>
                <a:ea typeface="Source Han Sans CN"/>
              </a:rPr>
              <a:t>Connector Tool ·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5552" y="2880360"/>
            <a:ext cx="274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6D9C6"/>
                </a:solidFill>
                <a:latin typeface="Source Han Sans CN"/>
                <a:ea typeface="Source Han Sans CN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0728" y="1901952"/>
            <a:ext cx="1627632" cy="245059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42D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66176" y="2075688"/>
            <a:ext cx="1307592" cy="310896"/>
          </a:xfrm>
          <a:prstGeom prst="roundRect">
            <a:avLst>
              <a:gd name="adj" fmla="val 8000"/>
            </a:avLst>
          </a:prstGeom>
          <a:solidFill>
            <a:srgbClr val="42D392"/>
          </a:solidFill>
          <a:ln>
            <a:solidFill>
              <a:srgbClr val="42D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6176" y="2084831"/>
            <a:ext cx="1307592" cy="2651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07152F"/>
                </a:solidFill>
                <a:latin typeface="Source Han Sans CN"/>
                <a:ea typeface="Source Han Sans CN"/>
              </a:rPr>
              <a:t>TRUSTED 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2788920"/>
            <a:ext cx="1307592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030" b="0">
                <a:solidFill>
                  <a:srgbClr val="F7FAFF"/>
                </a:solidFill>
                <a:latin typeface="Source Han Sans CN"/>
                <a:ea typeface="Source Han Sans CN"/>
              </a:rPr>
              <a:t>Approval · Attempt</a:t>
            </a:r>
          </a:p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030" b="0">
                <a:solidFill>
                  <a:srgbClr val="F7FAFF"/>
                </a:solidFill>
                <a:latin typeface="Source Han Sans CN"/>
                <a:ea typeface="Source Han Sans CN"/>
              </a:rPr>
              <a:t>Outbox · Receipt</a:t>
            </a:r>
          </a:p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030" b="0">
                <a:solidFill>
                  <a:srgbClr val="F7FAFF"/>
                </a:solidFill>
                <a:latin typeface="Source Han Sans CN"/>
                <a:ea typeface="Source Han Sans CN"/>
              </a:rPr>
              <a:t>Verify · Compensate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7504" y="2880360"/>
            <a:ext cx="274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6D9C6"/>
                </a:solidFill>
                <a:latin typeface="Source Han Sans CN"/>
                <a:ea typeface="Source Han Sans CN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2680" y="1901952"/>
            <a:ext cx="1627632" cy="245059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168128" y="2075688"/>
            <a:ext cx="1307592" cy="310896"/>
          </a:xfrm>
          <a:prstGeom prst="roundRect">
            <a:avLst>
              <a:gd name="adj" fmla="val 8000"/>
            </a:avLst>
          </a:prstGeom>
          <a:solidFill>
            <a:srgbClr val="246BFD"/>
          </a:solidFill>
          <a:ln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68128" y="2084831"/>
            <a:ext cx="1307592" cy="2651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F7FAFF"/>
                </a:solidFill>
                <a:latin typeface="Source Han Sans CN"/>
                <a:ea typeface="Source Han Sans CN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8128" y="2788920"/>
            <a:ext cx="1307592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030" b="0">
                <a:solidFill>
                  <a:srgbClr val="F7FAFF"/>
                </a:solidFill>
                <a:latin typeface="Source Han Sans CN"/>
                <a:ea typeface="Source Han Sans CN"/>
              </a:rPr>
              <a:t>Session · Trace · Metrics</a:t>
            </a:r>
          </a:p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030" b="0">
                <a:solidFill>
                  <a:srgbClr val="F7FAFF"/>
                </a:solidFill>
                <a:latin typeface="Source Han Sans CN"/>
                <a:ea typeface="Source Han Sans CN"/>
              </a:rPr>
              <a:t>回放 / 导出 / 保留策略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846320"/>
            <a:ext cx="1143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6D9C6"/>
                </a:solidFill>
                <a:latin typeface="Source Han Sans CN"/>
                <a:ea typeface="Source Han Sans CN"/>
              </a:rPr>
              <a:t>五项映射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4800600"/>
            <a:ext cx="9418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40" b="0">
                <a:solidFill>
                  <a:srgbClr val="F7FAFF"/>
                </a:solidFill>
                <a:latin typeface="Source Han Sans CN"/>
                <a:ea typeface="Source Han Sans CN"/>
              </a:rPr>
              <a:t>角色编排→Stage   任务拆解→Skill   上下文传递→签名 grant   协同执行→Stage→Skill→Connector   状态追踪→Trace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513832"/>
            <a:ext cx="10789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9BB0D0"/>
                </a:solidFill>
                <a:latin typeface="Source Han Sans CN"/>
                <a:ea typeface="Source Han Sans CN"/>
              </a:rPr>
              <a:t>选型原因：AgentTeams 提供赛题要求的协作基座；ECS 不重复协作框架，而是补齐真实动作的安全与恢复边界。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0"/>
            <a:ext cx="2377440" cy="2377440"/>
          </a:xfrm>
          <a:prstGeom prst="ellipse">
            <a:avLst/>
          </a:prstGeom>
          <a:solidFill>
            <a:srgbClr val="10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D9C6"/>
                </a:solidFill>
                <a:latin typeface="Source Han Sans CN"/>
                <a:ea typeface="Source Han Sans CN"/>
              </a:rPr>
              <a:t>GOAI 2026 · AGENT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94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BB0D0"/>
                </a:solidFill>
                <a:latin typeface="Source Han Sans CN"/>
                <a:ea typeface="Source Han Sans CN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55680" cy="0"/>
          </a:xfrm>
          <a:prstGeom prst="line">
            <a:avLst/>
          </a:prstGeom>
          <a:ln w="10160">
            <a:solidFill>
              <a:srgbClr val="174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005840"/>
            <a:ext cx="14630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800" b="1">
                <a:solidFill>
                  <a:srgbClr val="16D9C6"/>
                </a:solidFill>
                <a:latin typeface="Source Han Sans CN"/>
                <a:ea typeface="Source Han Sans CN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234440"/>
            <a:ext cx="8503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700" b="1">
                <a:solidFill>
                  <a:srgbClr val="F7FAFF"/>
                </a:solidFill>
                <a:latin typeface="Source Han Sans CN"/>
                <a:ea typeface="Source Han Sans CN"/>
              </a:rPr>
              <a:t>多 Agent 协同设计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240280"/>
            <a:ext cx="8503920" cy="0"/>
          </a:xfrm>
          <a:prstGeom prst="line">
            <a:avLst/>
          </a:prstGeom>
          <a:ln w="30480">
            <a:solidFill>
              <a:srgbClr val="246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84831" y="2606040"/>
            <a:ext cx="1572768" cy="310896"/>
          </a:xfrm>
          <a:prstGeom prst="roundRect">
            <a:avLst>
              <a:gd name="adj" fmla="val 8000"/>
            </a:avLst>
          </a:prstGeom>
          <a:solidFill>
            <a:srgbClr val="246BFD"/>
          </a:solidFill>
          <a:ln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4831" y="2615184"/>
            <a:ext cx="1572768" cy="2651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F7FAFF"/>
                </a:solidFill>
                <a:latin typeface="Source Han Sans CN"/>
                <a:ea typeface="Source Han Sans CN"/>
              </a:rPr>
              <a:t>评分权重  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246120"/>
            <a:ext cx="80467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9BB0D0"/>
                </a:solidFill>
                <a:latin typeface="Source Han Sans CN"/>
                <a:ea typeface="Source Han Sans CN"/>
              </a:rPr>
              <a:t>四个职能角色通过结构化交接完成一个闭环，高风险动作始终由人承担责任。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0"/>
            <a:ext cx="2377440" cy="2377440"/>
          </a:xfrm>
          <a:prstGeom prst="ellipse">
            <a:avLst/>
          </a:prstGeom>
          <a:solidFill>
            <a:srgbClr val="10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D9C6"/>
                </a:solidFill>
                <a:latin typeface="Source Han Sans CN"/>
                <a:ea typeface="Source Han Sans CN"/>
              </a:rPr>
              <a:t>GOAI 2026 · AGENT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94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BB0D0"/>
                </a:solidFill>
                <a:latin typeface="Source Han Sans CN"/>
                <a:ea typeface="Source Han Sans CN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55680" cy="0"/>
          </a:xfrm>
          <a:prstGeom prst="line">
            <a:avLst/>
          </a:prstGeom>
          <a:ln w="10160">
            <a:solidFill>
              <a:srgbClr val="174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7FAFF"/>
                </a:solidFill>
                <a:latin typeface="Source Han Sans CN"/>
                <a:ea typeface="Source Han Sans CN"/>
              </a:rPr>
              <a:t>Agent Identity 清单：四个角色、四类交付物、一条 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对齐官方附录 A；显式声明能力与决策边界。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64208"/>
            <a:ext cx="2624328" cy="409651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847088"/>
            <a:ext cx="310896" cy="310896"/>
          </a:xfrm>
          <a:prstGeom prst="ellipse">
            <a:avLst/>
          </a:prstGeom>
          <a:solidFill>
            <a:srgbClr val="246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51660"/>
            <a:ext cx="3108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7FAFF"/>
                </a:solidFill>
                <a:latin typeface="Source Han Sans CN"/>
                <a:ea typeface="Source Han Sans C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828800"/>
            <a:ext cx="1691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7FAFF"/>
                </a:solidFill>
                <a:latin typeface="Source Han Sans CN"/>
                <a:ea typeface="Source Han Sans CN"/>
              </a:rPr>
              <a:t>规划员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267712"/>
            <a:ext cx="22128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246BFD"/>
                </a:solidFill>
                <a:latin typeface="Source Han Sans CN"/>
                <a:ea typeface="Source Han Sans CN"/>
              </a:rPr>
              <a:t>meeting_planner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670048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30" b="1">
                <a:solidFill>
                  <a:srgbClr val="9BB0D0"/>
                </a:solidFill>
                <a:latin typeface="Source Han Sans CN"/>
                <a:ea typeface="Source Han Sans CN"/>
              </a:rPr>
              <a:t>CAPABILITIES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889504"/>
            <a:ext cx="2148840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19" b="0">
                <a:solidFill>
                  <a:srgbClr val="F7FAFF"/>
                </a:solidFill>
                <a:latin typeface="Source Han Sans CN"/>
                <a:ea typeface="Source Han Sans CN"/>
              </a:rPr>
              <a:t>会议类型、范围与参与人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547872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30" b="1">
                <a:solidFill>
                  <a:srgbClr val="9BB0D0"/>
                </a:solidFill>
                <a:latin typeface="Source Han Sans CN"/>
                <a:ea typeface="Source Han Sans CN"/>
              </a:rPr>
              <a:t>INPUT →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767328"/>
            <a:ext cx="2148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>
                <a:solidFill>
                  <a:srgbClr val="F7FAFF"/>
                </a:solidFill>
                <a:latin typeface="Source Han Sans CN"/>
                <a:ea typeface="Source Han Sans CN"/>
              </a:rPr>
              <a:t>标题/与会人 → scope_plan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251960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30" b="1">
                <a:solidFill>
                  <a:srgbClr val="9BB0D0"/>
                </a:solidFill>
                <a:latin typeface="Source Han Sans CN"/>
                <a:ea typeface="Source Han Sans CN"/>
              </a:rPr>
              <a:t>DEPENDENCY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471416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16D9C6"/>
                </a:solidFill>
                <a:latin typeface="Source Han Sans CN"/>
                <a:ea typeface="Source Han Sans CN"/>
              </a:rPr>
              <a:t>meeting.scope.plan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892040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30" b="1">
                <a:solidFill>
                  <a:srgbClr val="9BB0D0"/>
                </a:solidFill>
                <a:latin typeface="Source Han Sans CN"/>
                <a:ea typeface="Source Han Sans CN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5111496"/>
            <a:ext cx="214884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40" b="0">
                <a:solidFill>
                  <a:srgbClr val="F7FAFF"/>
                </a:solidFill>
                <a:latin typeface="Source Han Sans CN"/>
                <a:ea typeface="Source Han Sans CN"/>
              </a:rPr>
              <a:t>不执行外部动作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1664208"/>
            <a:ext cx="2624328" cy="409651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16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66160" y="1847088"/>
            <a:ext cx="310896" cy="310896"/>
          </a:xfrm>
          <a:prstGeom prst="ellipse">
            <a:avLst/>
          </a:prstGeom>
          <a:solidFill>
            <a:srgbClr val="16D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1851660"/>
            <a:ext cx="3108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7FAFF"/>
                </a:solidFill>
                <a:latin typeface="Source Han Sans CN"/>
                <a:ea typeface="Source Han Sans CN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5072" y="1828800"/>
            <a:ext cx="1691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7FAFF"/>
                </a:solidFill>
                <a:latin typeface="Source Han Sans CN"/>
                <a:ea typeface="Source Han Sans CN"/>
              </a:rPr>
              <a:t>纪要员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4448" y="2267712"/>
            <a:ext cx="22128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16D9C6"/>
                </a:solidFill>
                <a:latin typeface="Source Han Sans CN"/>
                <a:ea typeface="Source Han Sans CN"/>
              </a:rPr>
              <a:t>minutes_clerk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4448" y="2670048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30" b="1">
                <a:solidFill>
                  <a:srgbClr val="9BB0D0"/>
                </a:solidFill>
                <a:latin typeface="Source Han Sans CN"/>
                <a:ea typeface="Source Han Sans CN"/>
              </a:rPr>
              <a:t>CAPABILITIES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4448" y="2889504"/>
            <a:ext cx="2148840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19" b="0">
                <a:solidFill>
                  <a:srgbClr val="F7FAFF"/>
                </a:solidFill>
                <a:latin typeface="Source Han Sans CN"/>
                <a:ea typeface="Source Han Sans CN"/>
              </a:rPr>
              <a:t>决定、行动项、责任人和期限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3547872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30" b="1">
                <a:solidFill>
                  <a:srgbClr val="9BB0D0"/>
                </a:solidFill>
                <a:latin typeface="Source Han Sans CN"/>
                <a:ea typeface="Source Han Sans CN"/>
              </a:rPr>
              <a:t>INPUT →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4448" y="3767328"/>
            <a:ext cx="2148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>
                <a:solidFill>
                  <a:srgbClr val="F7FAFF"/>
                </a:solidFill>
                <a:latin typeface="Source Han Sans CN"/>
                <a:ea typeface="Source Han Sans CN"/>
              </a:rPr>
              <a:t>原文 → 可追溯事实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4448" y="4251960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30" b="1">
                <a:solidFill>
                  <a:srgbClr val="9BB0D0"/>
                </a:solidFill>
                <a:latin typeface="Source Han Sans CN"/>
                <a:ea typeface="Source Han Sans CN"/>
              </a:rPr>
              <a:t>DEPENDENCY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4448" y="4471416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16D9C6"/>
                </a:solidFill>
                <a:latin typeface="Source Han Sans CN"/>
                <a:ea typeface="Source Han Sans CN"/>
              </a:rPr>
              <a:t>meeting.fact.extract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4892040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30" b="1">
                <a:solidFill>
                  <a:srgbClr val="9BB0D0"/>
                </a:solidFill>
                <a:latin typeface="Source Han Sans CN"/>
                <a:ea typeface="Source Han Sans CN"/>
              </a:rPr>
              <a:t>DECISION BOUNDARY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5111496"/>
            <a:ext cx="214884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40" b="0">
                <a:solidFill>
                  <a:srgbClr val="F7FAFF"/>
                </a:solidFill>
                <a:latin typeface="Source Han Sans CN"/>
                <a:ea typeface="Source Han Sans CN"/>
              </a:rPr>
              <a:t>缺失字段不自行补齐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1664208"/>
            <a:ext cx="2624328" cy="409651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FF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1847088"/>
            <a:ext cx="310896" cy="310896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1851660"/>
            <a:ext cx="3108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7FAFF"/>
                </a:solidFill>
                <a:latin typeface="Source Han Sans CN"/>
                <a:ea typeface="Source Han Sans CN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85431" y="1828800"/>
            <a:ext cx="1691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7FAFF"/>
                </a:solidFill>
                <a:latin typeface="Source Han Sans CN"/>
                <a:ea typeface="Source Han Sans CN"/>
              </a:rPr>
              <a:t>核验员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7" y="2267712"/>
            <a:ext cx="22128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FF5C8A"/>
                </a:solidFill>
                <a:latin typeface="Source Han Sans CN"/>
                <a:ea typeface="Source Han Sans CN"/>
              </a:rPr>
              <a:t>decision_reviewer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7" y="2670048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30" b="1">
                <a:solidFill>
                  <a:srgbClr val="9BB0D0"/>
                </a:solidFill>
                <a:latin typeface="Source Han Sans CN"/>
                <a:ea typeface="Source Han Sans CN"/>
              </a:rPr>
              <a:t>CAPABILITIES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4807" y="2889504"/>
            <a:ext cx="2148840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19" b="0">
                <a:solidFill>
                  <a:srgbClr val="F7FAFF"/>
                </a:solidFill>
                <a:latin typeface="Source Han Sans CN"/>
                <a:ea typeface="Source Han Sans CN"/>
              </a:rPr>
              <a:t>完整性、一致性和原文依据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4807" y="3547872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30" b="1">
                <a:solidFill>
                  <a:srgbClr val="9BB0D0"/>
                </a:solidFill>
                <a:latin typeface="Source Han Sans CN"/>
                <a:ea typeface="Source Han Sans CN"/>
              </a:rPr>
              <a:t>INPUT → 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4807" y="3767328"/>
            <a:ext cx="2148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>
                <a:solidFill>
                  <a:srgbClr val="F7FAFF"/>
                </a:solidFill>
                <a:latin typeface="Source Han Sans CN"/>
                <a:ea typeface="Source Han Sans CN"/>
              </a:rPr>
              <a:t>行动项 → blockers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4807" y="4251960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30" b="1">
                <a:solidFill>
                  <a:srgbClr val="9BB0D0"/>
                </a:solidFill>
                <a:latin typeface="Source Han Sans CN"/>
                <a:ea typeface="Source Han Sans CN"/>
              </a:rPr>
              <a:t>DEPENDENCY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7" y="4471416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16D9C6"/>
                </a:solidFill>
                <a:latin typeface="Source Han Sans CN"/>
                <a:ea typeface="Source Han Sans CN"/>
              </a:rPr>
              <a:t>meeting.evidence.verify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4807" y="4892040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30" b="1">
                <a:solidFill>
                  <a:srgbClr val="9BB0D0"/>
                </a:solidFill>
                <a:latin typeface="Source Han Sans CN"/>
                <a:ea typeface="Source Han Sans CN"/>
              </a:rPr>
              <a:t>DECISION BOUNDARY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4807" y="5111496"/>
            <a:ext cx="214884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40" b="0">
                <a:solidFill>
                  <a:srgbClr val="F7FAFF"/>
                </a:solidFill>
                <a:latin typeface="Source Han Sans CN"/>
                <a:ea typeface="Source Han Sans CN"/>
              </a:rPr>
              <a:t>不替代人类审批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0" y="1664208"/>
            <a:ext cx="2624328" cy="409651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FFD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326880" y="1847088"/>
            <a:ext cx="310896" cy="310896"/>
          </a:xfrm>
          <a:prstGeom prst="ellipse">
            <a:avLst/>
          </a:prstGeom>
          <a:solidFill>
            <a:srgbClr val="FFD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1851660"/>
            <a:ext cx="3108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7FAFF"/>
                </a:solidFill>
                <a:latin typeface="Source Han Sans CN"/>
                <a:ea typeface="Source Han Sans CN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5792" y="1828800"/>
            <a:ext cx="1691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7FAFF"/>
                </a:solidFill>
                <a:latin typeface="Source Han Sans CN"/>
                <a:ea typeface="Source Han Sans CN"/>
              </a:rPr>
              <a:t>督办员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45168" y="2267712"/>
            <a:ext cx="22128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FFD45A"/>
                </a:solidFill>
                <a:latin typeface="Source Han Sans CN"/>
                <a:ea typeface="Source Han Sans CN"/>
              </a:rPr>
              <a:t>followup_coordinator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45168" y="2670048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30" b="1">
                <a:solidFill>
                  <a:srgbClr val="9BB0D0"/>
                </a:solidFill>
                <a:latin typeface="Source Han Sans CN"/>
                <a:ea typeface="Source Han Sans CN"/>
              </a:rPr>
              <a:t>CAPABILITIES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45168" y="2889504"/>
            <a:ext cx="2148840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19" b="0">
                <a:solidFill>
                  <a:srgbClr val="F7FAFF"/>
                </a:solidFill>
                <a:latin typeface="Source Han Sans CN"/>
                <a:ea typeface="Source Han Sans CN"/>
              </a:rPr>
              <a:t>审批后派发、回执核验与补偿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45168" y="3547872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30" b="1">
                <a:solidFill>
                  <a:srgbClr val="9BB0D0"/>
                </a:solidFill>
                <a:latin typeface="Source Han Sans CN"/>
                <a:ea typeface="Source Han Sans CN"/>
              </a:rPr>
              <a:t>INPUT → OUTPUT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45168" y="3767328"/>
            <a:ext cx="2148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>
                <a:solidFill>
                  <a:srgbClr val="F7FAFF"/>
                </a:solidFill>
                <a:latin typeface="Source Han Sans CN"/>
                <a:ea typeface="Source Han Sans CN"/>
              </a:rPr>
              <a:t>approved task → receipt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45168" y="4251960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30" b="1">
                <a:solidFill>
                  <a:srgbClr val="9BB0D0"/>
                </a:solidFill>
                <a:latin typeface="Source Han Sans CN"/>
                <a:ea typeface="Source Han Sans CN"/>
              </a:rPr>
              <a:t>DEPENDENCY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45168" y="4471416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16D9C6"/>
                </a:solidFill>
                <a:latin typeface="Source Han Sans CN"/>
                <a:ea typeface="Source Han Sans CN"/>
              </a:rPr>
              <a:t>dispatch + receipt.verify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45168" y="4892040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30" b="1">
                <a:solidFill>
                  <a:srgbClr val="9BB0D0"/>
                </a:solidFill>
                <a:latin typeface="Source Han Sans CN"/>
                <a:ea typeface="Source Han Sans CN"/>
              </a:rPr>
              <a:t>DECISION BOUNDARY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45168" y="5111496"/>
            <a:ext cx="214884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40" b="0">
                <a:solidFill>
                  <a:srgbClr val="F7FAFF"/>
                </a:solidFill>
                <a:latin typeface="Source Han Sans CN"/>
                <a:ea typeface="Source Han Sans CN"/>
              </a:rPr>
              <a:t>无有效 grant 则禁止调用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" y="5916168"/>
            <a:ext cx="10972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9BB0D0"/>
                </a:solidFill>
                <a:latin typeface="Source Han Sans CN"/>
                <a:ea typeface="Source Han Sans CN"/>
              </a:rPr>
              <a:t>Trace：task_id / stage_id / skill_run / tool_run 全链关联。当前四角色已拥有独立 Skill profile，但共享 executor 安全主体；独立 principal 是复赛增强项。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0"/>
            <a:ext cx="2377440" cy="2377440"/>
          </a:xfrm>
          <a:prstGeom prst="ellipse">
            <a:avLst/>
          </a:prstGeom>
          <a:solidFill>
            <a:srgbClr val="10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D9C6"/>
                </a:solidFill>
                <a:latin typeface="Source Han Sans CN"/>
                <a:ea typeface="Source Han Sans CN"/>
              </a:rPr>
              <a:t>GOAI 2026 · AGENT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94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BB0D0"/>
                </a:solidFill>
                <a:latin typeface="Source Han Sans CN"/>
                <a:ea typeface="Source Han Sans CN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55680" cy="0"/>
          </a:xfrm>
          <a:prstGeom prst="line">
            <a:avLst/>
          </a:prstGeom>
          <a:ln w="10160">
            <a:solidFill>
              <a:srgbClr val="174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005840"/>
            <a:ext cx="14630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800" b="1">
                <a:solidFill>
                  <a:srgbClr val="16D9C6"/>
                </a:solidFill>
                <a:latin typeface="Source Han Sans CN"/>
                <a:ea typeface="Source Han Sans CN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234440"/>
            <a:ext cx="8503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700" b="1">
                <a:solidFill>
                  <a:srgbClr val="F7FAFF"/>
                </a:solidFill>
                <a:latin typeface="Source Han Sans CN"/>
                <a:ea typeface="Source Han Sans CN"/>
              </a:rPr>
              <a:t>Skill 工程体系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240280"/>
            <a:ext cx="8503920" cy="0"/>
          </a:xfrm>
          <a:prstGeom prst="line">
            <a:avLst/>
          </a:prstGeom>
          <a:ln w="30480">
            <a:solidFill>
              <a:srgbClr val="246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84831" y="2606040"/>
            <a:ext cx="1572768" cy="310896"/>
          </a:xfrm>
          <a:prstGeom prst="roundRect">
            <a:avLst>
              <a:gd name="adj" fmla="val 8000"/>
            </a:avLst>
          </a:prstGeom>
          <a:solidFill>
            <a:srgbClr val="246BFD"/>
          </a:solidFill>
          <a:ln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4831" y="2615184"/>
            <a:ext cx="1572768" cy="2651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F7FAFF"/>
                </a:solidFill>
                <a:latin typeface="Source Han Sans CN"/>
                <a:ea typeface="Source Han Sans CN"/>
              </a:rPr>
              <a:t>评分权重  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246120"/>
            <a:ext cx="80467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9BB0D0"/>
                </a:solidFill>
                <a:latin typeface="Source Han Sans CN"/>
                <a:ea typeface="Source Han Sans CN"/>
              </a:rPr>
              <a:t>Skill 不是一次性角色台词，而是可验证、可版本化、可复用的稳定能力合同。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0"/>
            <a:ext cx="2377440" cy="2377440"/>
          </a:xfrm>
          <a:prstGeom prst="ellipse">
            <a:avLst/>
          </a:prstGeom>
          <a:solidFill>
            <a:srgbClr val="10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D9C6"/>
                </a:solidFill>
                <a:latin typeface="Source Han Sans CN"/>
                <a:ea typeface="Source Han Sans CN"/>
              </a:rPr>
              <a:t>GOAI 2026 · AGENT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94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BB0D0"/>
                </a:solidFill>
                <a:latin typeface="Source Han Sans CN"/>
                <a:ea typeface="Source Han Sans CN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55680" cy="0"/>
          </a:xfrm>
          <a:prstGeom prst="line">
            <a:avLst/>
          </a:prstGeom>
          <a:ln w="10160">
            <a:solidFill>
              <a:srgbClr val="174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7FAFF"/>
                </a:solidFill>
                <a:latin typeface="Source Han Sans CN"/>
                <a:ea typeface="Source Han Sans CN"/>
              </a:rPr>
              <a:t>五个闭环 Skill 覆盖会议督办全流程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用 office.action.dispatch 展开完整契约；其余 Skill 遵循同一生命周期。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591056"/>
            <a:ext cx="3749039" cy="62179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28216"/>
            <a:ext cx="39319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30" b="1">
                <a:solidFill>
                  <a:srgbClr val="246BFD"/>
                </a:solidFill>
                <a:latin typeface="Source Han Sans CN"/>
                <a:ea typeface="Source Han Sans CN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1664208"/>
            <a:ext cx="2578608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30" b="1">
                <a:solidFill>
                  <a:srgbClr val="F7FAFF"/>
                </a:solidFill>
                <a:latin typeface="Source Han Sans CN"/>
                <a:ea typeface="Source Han Sans CN"/>
              </a:rPr>
              <a:t>meeting.scope.plan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920240"/>
            <a:ext cx="2103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BB0D0"/>
                </a:solidFill>
                <a:latin typeface="Source Han Sans CN"/>
                <a:ea typeface="Source Han Sans CN"/>
              </a:rPr>
              <a:t>范围规划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2423160"/>
            <a:ext cx="3749039" cy="62179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39319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30" b="1">
                <a:solidFill>
                  <a:srgbClr val="246BFD"/>
                </a:solidFill>
                <a:latin typeface="Source Han Sans CN"/>
                <a:ea typeface="Source Han Sans CN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496312"/>
            <a:ext cx="2578608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30" b="1">
                <a:solidFill>
                  <a:srgbClr val="F7FAFF"/>
                </a:solidFill>
                <a:latin typeface="Source Han Sans CN"/>
                <a:ea typeface="Source Han Sans CN"/>
              </a:rPr>
              <a:t>meeting.fact.extract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752344"/>
            <a:ext cx="2103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BB0D0"/>
                </a:solidFill>
                <a:latin typeface="Source Han Sans CN"/>
                <a:ea typeface="Source Han Sans CN"/>
              </a:rPr>
              <a:t>事实提取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3255264"/>
            <a:ext cx="3749039" cy="62179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FF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92424"/>
            <a:ext cx="39319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30" b="1">
                <a:solidFill>
                  <a:srgbClr val="FF5C8A"/>
                </a:solidFill>
                <a:latin typeface="Source Han Sans CN"/>
                <a:ea typeface="Source Han Sans CN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328416"/>
            <a:ext cx="2578608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30" b="1">
                <a:solidFill>
                  <a:srgbClr val="F7FAFF"/>
                </a:solidFill>
                <a:latin typeface="Source Han Sans CN"/>
                <a:ea typeface="Source Han Sans CN"/>
              </a:rPr>
              <a:t>meeting.evidence.verify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584448"/>
            <a:ext cx="2103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BB0D0"/>
                </a:solidFill>
                <a:latin typeface="Source Han Sans CN"/>
                <a:ea typeface="Source Han Sans CN"/>
              </a:rPr>
              <a:t>证据核验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4087368"/>
            <a:ext cx="3749039" cy="62179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FFD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24528"/>
            <a:ext cx="39319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30" b="1">
                <a:solidFill>
                  <a:srgbClr val="FFD45A"/>
                </a:solidFill>
                <a:latin typeface="Source Han Sans CN"/>
                <a:ea typeface="Source Han Sans CN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4160520"/>
            <a:ext cx="2578608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30" b="1">
                <a:solidFill>
                  <a:srgbClr val="F7FAFF"/>
                </a:solidFill>
                <a:latin typeface="Source Han Sans CN"/>
                <a:ea typeface="Source Han Sans CN"/>
              </a:rPr>
              <a:t>office.action.dispatch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416552"/>
            <a:ext cx="2103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BB0D0"/>
                </a:solidFill>
                <a:latin typeface="Source Han Sans CN"/>
                <a:ea typeface="Source Han Sans CN"/>
              </a:rPr>
              <a:t>动作派发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4919472"/>
            <a:ext cx="3749039" cy="62179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16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56632"/>
            <a:ext cx="39319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30" b="1">
                <a:solidFill>
                  <a:srgbClr val="16D9C6"/>
                </a:solidFill>
                <a:latin typeface="Source Han Sans CN"/>
                <a:ea typeface="Source Han Sans CN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4992624"/>
            <a:ext cx="2578608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30" b="1">
                <a:solidFill>
                  <a:srgbClr val="F7FAFF"/>
                </a:solidFill>
                <a:latin typeface="Source Han Sans CN"/>
                <a:ea typeface="Source Han Sans CN"/>
              </a:rPr>
              <a:t>execution.receipt.verify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248656"/>
            <a:ext cx="2103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BB0D0"/>
                </a:solidFill>
                <a:latin typeface="Source Han Sans CN"/>
                <a:ea typeface="Source Han Sans CN"/>
              </a:rPr>
              <a:t>回执验证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53712" y="1664208"/>
            <a:ext cx="7059168" cy="4224528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FFD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00600" y="1865376"/>
            <a:ext cx="2487168" cy="310896"/>
          </a:xfrm>
          <a:prstGeom prst="roundRect">
            <a:avLst>
              <a:gd name="adj" fmla="val 8000"/>
            </a:avLst>
          </a:prstGeom>
          <a:solidFill>
            <a:srgbClr val="FFD45A"/>
          </a:solidFill>
          <a:ln>
            <a:solidFill>
              <a:srgbClr val="FFD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1874519"/>
            <a:ext cx="2487168" cy="2651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07152F"/>
                </a:solidFill>
                <a:latin typeface="Source Han Sans CN"/>
                <a:ea typeface="Source Han Sans CN"/>
              </a:rPr>
              <a:t>office.action.dispatch  v1.0.0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2404872"/>
            <a:ext cx="123444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6D9C6"/>
                </a:solidFill>
                <a:latin typeface="Source Han Sans CN"/>
                <a:ea typeface="Source Han Sans CN"/>
              </a:rPr>
              <a:t>用途 / 关系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9904" y="2404872"/>
            <a:ext cx="519379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0">
                <a:solidFill>
                  <a:srgbClr val="F7FAFF"/>
                </a:solidFill>
                <a:latin typeface="Source Han Sans CN"/>
                <a:ea typeface="Source Han Sans CN"/>
              </a:rPr>
              <a:t>followup_coordinator 在人工批准后创建会后行动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2852928"/>
            <a:ext cx="123444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6D9C6"/>
                </a:solidFill>
                <a:latin typeface="Source Han Sans CN"/>
                <a:ea typeface="Source Han Sans CN"/>
              </a:rPr>
              <a:t>输入 / 输出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9904" y="2852928"/>
            <a:ext cx="519379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0">
                <a:solidFill>
                  <a:srgbClr val="F7FAFF"/>
                </a:solidFill>
                <a:latin typeface="Source Han Sans CN"/>
                <a:ea typeface="Source Han Sans CN"/>
              </a:rPr>
              <a:t>verified action + target + idempotency_key → structured receipt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8032" y="3300984"/>
            <a:ext cx="123444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6D9C6"/>
                </a:solidFill>
                <a:latin typeface="Source Han Sans CN"/>
                <a:ea typeface="Source Han Sans CN"/>
              </a:rPr>
              <a:t>调用条件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9904" y="3300984"/>
            <a:ext cx="519379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0">
                <a:solidFill>
                  <a:srgbClr val="F7FAFF"/>
                </a:solidFill>
                <a:latin typeface="Source Han Sans CN"/>
                <a:ea typeface="Source Han Sans CN"/>
              </a:rPr>
              <a:t>evidence verified ∧ office_grant valid ∧ approval approved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3749039"/>
            <a:ext cx="123444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6D9C6"/>
                </a:solidFill>
                <a:latin typeface="Source Han Sans CN"/>
                <a:ea typeface="Source Han Sans CN"/>
              </a:rPr>
              <a:t>依赖工具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9904" y="3749039"/>
            <a:ext cx="519379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0">
                <a:solidFill>
                  <a:srgbClr val="F7FAFF"/>
                </a:solidFill>
                <a:latin typeface="Source Han Sans CN"/>
                <a:ea typeface="Source Han Sans CN"/>
              </a:rPr>
              <a:t>office_action_dispatch @builtin；Connector 可替换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28032" y="4197096"/>
            <a:ext cx="123444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6D9C6"/>
                </a:solidFill>
                <a:latin typeface="Source Han Sans CN"/>
                <a:ea typeface="Source Han Sans CN"/>
              </a:rPr>
              <a:t>失败处理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9904" y="4197096"/>
            <a:ext cx="519379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0">
                <a:solidFill>
                  <a:srgbClr val="F7FAFF"/>
                </a:solidFill>
                <a:latin typeface="Source Han Sans CN"/>
                <a:ea typeface="Source Han Sans CN"/>
              </a:rPr>
              <a:t>超时/确定失败→补偿；结果未知→recovery_required 幂等恢复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28032" y="4645152"/>
            <a:ext cx="123444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6D9C6"/>
                </a:solidFill>
                <a:latin typeface="Source Han Sans CN"/>
                <a:ea typeface="Source Han Sans CN"/>
              </a:rPr>
              <a:t>安全边界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9904" y="4645152"/>
            <a:ext cx="519379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0">
                <a:solidFill>
                  <a:srgbClr val="F7FAFF"/>
                </a:solidFill>
                <a:latin typeface="Source Han Sans CN"/>
                <a:ea typeface="Source Han Sans CN"/>
              </a:rPr>
              <a:t>scope + JSON Schema + 签名 grant + 人工审批；禁止模型自授权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8032" y="5093208"/>
            <a:ext cx="123444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6D9C6"/>
                </a:solidFill>
                <a:latin typeface="Source Han Sans CN"/>
                <a:ea typeface="Source Han Sans CN"/>
              </a:rPr>
              <a:t>验证 / 复用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9904" y="5093208"/>
            <a:ext cx="519379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0">
                <a:solidFill>
                  <a:srgbClr val="F7FAFF"/>
                </a:solidFill>
                <a:latin typeface="Source Han Sans CN"/>
                <a:ea typeface="Source Han Sans CN"/>
              </a:rPr>
              <a:t>receipt verifier + Trace；可迁移到工单、日历、通知与 MCP adapter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035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40" b="0">
                <a:solidFill>
                  <a:srgbClr val="9BB0D0"/>
                </a:solidFill>
                <a:latin typeface="Source Han Sans CN"/>
                <a:ea typeface="Source Han Sans CN"/>
              </a:rPr>
              <a:t>生命周期：SKILL.md + skill.json → Manifest/Handler 一致性校验 → 固定用例 → 版本兼容声明 → 可回滚交付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0"/>
            <a:ext cx="2377440" cy="2377440"/>
          </a:xfrm>
          <a:prstGeom prst="ellipse">
            <a:avLst/>
          </a:prstGeom>
          <a:solidFill>
            <a:srgbClr val="10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D9C6"/>
                </a:solidFill>
                <a:latin typeface="Source Han Sans CN"/>
                <a:ea typeface="Source Han Sans CN"/>
              </a:rPr>
              <a:t>GOAI 2026 · AGENT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94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BB0D0"/>
                </a:solidFill>
                <a:latin typeface="Source Han Sans CN"/>
                <a:ea typeface="Source Han Sans CN"/>
              </a:rPr>
              <a:t>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55680" cy="0"/>
          </a:xfrm>
          <a:prstGeom prst="line">
            <a:avLst/>
          </a:prstGeom>
          <a:ln w="10160">
            <a:solidFill>
              <a:srgbClr val="174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005840"/>
            <a:ext cx="14630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800" b="1">
                <a:solidFill>
                  <a:srgbClr val="16D9C6"/>
                </a:solidFill>
                <a:latin typeface="Source Han Sans CN"/>
                <a:ea typeface="Source Han Sans CN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234440"/>
            <a:ext cx="8503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700" b="1">
                <a:solidFill>
                  <a:srgbClr val="F7FAFF"/>
                </a:solidFill>
                <a:latin typeface="Source Han Sans CN"/>
                <a:ea typeface="Source Han Sans CN"/>
              </a:rPr>
              <a:t>工程落地、运行验证与安全可审计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240280"/>
            <a:ext cx="8503920" cy="0"/>
          </a:xfrm>
          <a:prstGeom prst="line">
            <a:avLst/>
          </a:prstGeom>
          <a:ln w="30480">
            <a:solidFill>
              <a:srgbClr val="246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84831" y="2606040"/>
            <a:ext cx="1572768" cy="310896"/>
          </a:xfrm>
          <a:prstGeom prst="roundRect">
            <a:avLst>
              <a:gd name="adj" fmla="val 8000"/>
            </a:avLst>
          </a:prstGeom>
          <a:solidFill>
            <a:srgbClr val="246BFD"/>
          </a:solidFill>
          <a:ln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4831" y="2615184"/>
            <a:ext cx="1572768" cy="2651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F7FAFF"/>
                </a:solidFill>
                <a:latin typeface="Source Han Sans CN"/>
                <a:ea typeface="Source Han Sans CN"/>
              </a:rPr>
              <a:t>评分权重  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246120"/>
            <a:ext cx="80467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9BB0D0"/>
                </a:solidFill>
                <a:latin typeface="Source Han Sans CN"/>
                <a:ea typeface="Source Han Sans CN"/>
              </a:rPr>
              <a:t>批准前不执行；执行后有回执；结果未知时不伪装成功。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0"/>
            <a:ext cx="2377440" cy="2377440"/>
          </a:xfrm>
          <a:prstGeom prst="ellipse">
            <a:avLst/>
          </a:prstGeom>
          <a:solidFill>
            <a:srgbClr val="10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D9C6"/>
                </a:solidFill>
                <a:latin typeface="Source Han Sans CN"/>
                <a:ea typeface="Source Han Sans CN"/>
              </a:rPr>
              <a:t>GOAI 2026 · AGENT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94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BB0D0"/>
                </a:solidFill>
                <a:latin typeface="Source Han Sans CN"/>
                <a:ea typeface="Source Han Sans CN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55680" cy="0"/>
          </a:xfrm>
          <a:prstGeom prst="line">
            <a:avLst/>
          </a:prstGeom>
          <a:ln w="10160">
            <a:solidFill>
              <a:srgbClr val="174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7FAFF"/>
                </a:solidFill>
                <a:latin typeface="Source Han Sans CN"/>
                <a:ea typeface="Source Han Sans CN"/>
              </a:rPr>
              <a:t>四张运行画面，对应四个可检查边界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固定回归证据与实时三节点 Trace 分别标注，不将 fixture 伪装成现场运行。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468112" cy="1975104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fice-control-console.png"/>
          <p:cNvPicPr>
            <a:picLocks noChangeAspect="1"/>
          </p:cNvPicPr>
          <p:nvPr/>
        </p:nvPicPr>
        <p:blipFill>
          <a:blip r:embed="rId2"/>
          <a:srcRect t="13490" b="13490"/>
          <a:stretch>
            <a:fillRect/>
          </a:stretch>
        </p:blipFill>
        <p:spPr>
          <a:xfrm>
            <a:off x="612648" y="1993392"/>
            <a:ext cx="3493008" cy="1435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" y="1719072"/>
            <a:ext cx="42062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6D9C6"/>
                </a:solidFill>
                <a:latin typeface="Source Han Sans CN"/>
                <a:ea typeface="Source Han Sans CN"/>
              </a:rPr>
              <a:t>01  OFFICE 建单 / 派发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2221992"/>
            <a:ext cx="15087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40" b="1">
                <a:solidFill>
                  <a:srgbClr val="F7FAFF"/>
                </a:solidFill>
                <a:latin typeface="Source Han Sans CN"/>
                <a:ea typeface="Source Han Sans CN"/>
              </a:rPr>
              <a:t>固定回归数据集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2788920"/>
            <a:ext cx="15087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0">
                <a:solidFill>
                  <a:srgbClr val="9BB0D0"/>
                </a:solidFill>
                <a:latin typeface="Source Han Sans CN"/>
                <a:ea typeface="Source Han Sans CN"/>
              </a:rPr>
              <a:t>来源已标注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0">
                <a:solidFill>
                  <a:srgbClr val="9BB0D0"/>
                </a:solidFill>
                <a:latin typeface="Source Han Sans CN"/>
                <a:ea typeface="Source Han Sans CN"/>
              </a:rPr>
              <a:t>可核验画面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627632"/>
            <a:ext cx="5468112" cy="1975104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pproval-and-handoff.png"/>
          <p:cNvPicPr>
            <a:picLocks noChangeAspect="1"/>
          </p:cNvPicPr>
          <p:nvPr/>
        </p:nvPicPr>
        <p:blipFill>
          <a:blip r:embed="rId3"/>
          <a:srcRect t="13490" b="13490"/>
          <a:stretch>
            <a:fillRect/>
          </a:stretch>
        </p:blipFill>
        <p:spPr>
          <a:xfrm>
            <a:off x="6355080" y="1993392"/>
            <a:ext cx="3493008" cy="1435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64224" y="1719072"/>
            <a:ext cx="42062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6D9C6"/>
                </a:solidFill>
                <a:latin typeface="Source Han Sans CN"/>
                <a:ea typeface="Source Han Sans CN"/>
              </a:rPr>
              <a:t>02  人工审批门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94392" y="2221992"/>
            <a:ext cx="15087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40" b="1">
                <a:solidFill>
                  <a:srgbClr val="F7FAFF"/>
                </a:solidFill>
                <a:latin typeface="Source Han Sans CN"/>
                <a:ea typeface="Source Han Sans CN"/>
              </a:rPr>
              <a:t>固定回归数据集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94392" y="2788920"/>
            <a:ext cx="15087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0">
                <a:solidFill>
                  <a:srgbClr val="9BB0D0"/>
                </a:solidFill>
                <a:latin typeface="Source Han Sans CN"/>
                <a:ea typeface="Source Han Sans CN"/>
              </a:rPr>
              <a:t>来源已标注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0">
                <a:solidFill>
                  <a:srgbClr val="9BB0D0"/>
                </a:solidFill>
                <a:latin typeface="Source Han Sans CN"/>
                <a:ea typeface="Source Han Sans CN"/>
              </a:rPr>
              <a:t>可核验画面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03904"/>
            <a:ext cx="5468112" cy="1975104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vidence-timeline.png"/>
          <p:cNvPicPr>
            <a:picLocks noChangeAspect="1"/>
          </p:cNvPicPr>
          <p:nvPr/>
        </p:nvPicPr>
        <p:blipFill>
          <a:blip r:embed="rId4"/>
          <a:srcRect t="13490" b="13490"/>
          <a:stretch>
            <a:fillRect/>
          </a:stretch>
        </p:blipFill>
        <p:spPr>
          <a:xfrm>
            <a:off x="612648" y="4169664"/>
            <a:ext cx="3493008" cy="1435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1792" y="3895344"/>
            <a:ext cx="42062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6D9C6"/>
                </a:solidFill>
                <a:latin typeface="Source Han Sans CN"/>
                <a:ea typeface="Source Han Sans CN"/>
              </a:rPr>
              <a:t>03  证据时间线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59" y="4398264"/>
            <a:ext cx="15087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40" b="1">
                <a:solidFill>
                  <a:srgbClr val="F7FAFF"/>
                </a:solidFill>
                <a:latin typeface="Source Han Sans CN"/>
                <a:ea typeface="Source Han Sans CN"/>
              </a:rPr>
              <a:t>固定回归数据集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4965192"/>
            <a:ext cx="15087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0">
                <a:solidFill>
                  <a:srgbClr val="9BB0D0"/>
                </a:solidFill>
                <a:latin typeface="Source Han Sans CN"/>
                <a:ea typeface="Source Han Sans CN"/>
              </a:rPr>
              <a:t>来源已标注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0">
                <a:solidFill>
                  <a:srgbClr val="9BB0D0"/>
                </a:solidFill>
                <a:latin typeface="Source Han Sans CN"/>
                <a:ea typeface="Source Han Sans CN"/>
              </a:rPr>
              <a:t>可核验画面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3803904"/>
            <a:ext cx="5468112" cy="1975104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ross-node-trace.png"/>
          <p:cNvPicPr>
            <a:picLocks noChangeAspect="1"/>
          </p:cNvPicPr>
          <p:nvPr/>
        </p:nvPicPr>
        <p:blipFill>
          <a:blip r:embed="rId5"/>
          <a:srcRect t="13490" b="13490"/>
          <a:stretch>
            <a:fillRect/>
          </a:stretch>
        </p:blipFill>
        <p:spPr>
          <a:xfrm>
            <a:off x="6355080" y="4169664"/>
            <a:ext cx="3493008" cy="14356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64224" y="3895344"/>
            <a:ext cx="42062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6D9C6"/>
                </a:solidFill>
                <a:latin typeface="Source Han Sans CN"/>
                <a:ea typeface="Source Han Sans CN"/>
              </a:rPr>
              <a:t>04  三节点 TRACE 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4392" y="4398264"/>
            <a:ext cx="15087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40" b="1">
                <a:solidFill>
                  <a:srgbClr val="F7FAFF"/>
                </a:solidFill>
                <a:latin typeface="Source Han Sans CN"/>
                <a:ea typeface="Source Han Sans CN"/>
              </a:rPr>
              <a:t>2026-08-07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40" b="1">
                <a:solidFill>
                  <a:srgbClr val="F7FAFF"/>
                </a:solidFill>
                <a:latin typeface="Source Han Sans CN"/>
                <a:ea typeface="Source Han Sans CN"/>
              </a:rPr>
              <a:t>实时三节点回归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4392" y="4965192"/>
            <a:ext cx="15087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0">
                <a:solidFill>
                  <a:srgbClr val="9BB0D0"/>
                </a:solidFill>
                <a:latin typeface="Source Han Sans CN"/>
                <a:ea typeface="Source Han Sans CN"/>
              </a:rPr>
              <a:t>来源已标注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0">
                <a:solidFill>
                  <a:srgbClr val="9BB0D0"/>
                </a:solidFill>
                <a:latin typeface="Source Han Sans CN"/>
                <a:ea typeface="Source Han Sans CN"/>
              </a:rPr>
              <a:t>可核验画面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071616"/>
            <a:ext cx="1088136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>
                <a:solidFill>
                  <a:srgbClr val="9BB0D0"/>
                </a:solidFill>
                <a:latin typeface="Source Han Sans CN"/>
                <a:ea typeface="Source Han Sans CN"/>
              </a:rPr>
              <a:t>证据索引：docs/demo-assets/README.md · 固定回归 evidence/meeting-followup/reference · 三节点 trace=f18684b48bc024429d92c492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0"/>
            <a:ext cx="2377440" cy="2377440"/>
          </a:xfrm>
          <a:prstGeom prst="ellipse">
            <a:avLst/>
          </a:prstGeom>
          <a:solidFill>
            <a:srgbClr val="10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D9C6"/>
                </a:solidFill>
                <a:latin typeface="Source Han Sans CN"/>
                <a:ea typeface="Source Han Sans CN"/>
              </a:rPr>
              <a:t>GOAI 2026 · AGENT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94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BB0D0"/>
                </a:solidFill>
                <a:latin typeface="Source Han Sans CN"/>
                <a:ea typeface="Source Han Sans CN"/>
              </a:rPr>
              <a:t>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55680" cy="0"/>
          </a:xfrm>
          <a:prstGeom prst="line">
            <a:avLst/>
          </a:prstGeom>
          <a:ln w="10160">
            <a:solidFill>
              <a:srgbClr val="174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005840"/>
            <a:ext cx="14630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800" b="1">
                <a:solidFill>
                  <a:srgbClr val="16D9C6"/>
                </a:solidFill>
                <a:latin typeface="Source Han Sans CN"/>
                <a:ea typeface="Source Han Sans CN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234440"/>
            <a:ext cx="8503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700" b="1">
                <a:solidFill>
                  <a:srgbClr val="F7FAFF"/>
                </a:solidFill>
                <a:latin typeface="Source Han Sans CN"/>
                <a:ea typeface="Source Han Sans CN"/>
              </a:rPr>
              <a:t>开放 / 开源计划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240280"/>
            <a:ext cx="8503920" cy="0"/>
          </a:xfrm>
          <a:prstGeom prst="line">
            <a:avLst/>
          </a:prstGeom>
          <a:ln w="30480">
            <a:solidFill>
              <a:srgbClr val="246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84831" y="2606040"/>
            <a:ext cx="1572768" cy="310896"/>
          </a:xfrm>
          <a:prstGeom prst="roundRect">
            <a:avLst>
              <a:gd name="adj" fmla="val 8000"/>
            </a:avLst>
          </a:prstGeom>
          <a:solidFill>
            <a:srgbClr val="246BFD"/>
          </a:solidFill>
          <a:ln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4831" y="2615184"/>
            <a:ext cx="1572768" cy="2651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F7FAFF"/>
                </a:solidFill>
                <a:latin typeface="Source Han Sans CN"/>
                <a:ea typeface="Source Han Sans CN"/>
              </a:rPr>
              <a:t>评分权重  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246120"/>
            <a:ext cx="80467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9BB0D0"/>
                </a:solidFill>
                <a:latin typeface="Source Han Sans CN"/>
                <a:ea typeface="Source Han Sans CN"/>
              </a:rPr>
              <a:t>不用“开源”包装私有项目；用可评审交付包、稳定契约与可复现证据提供复用价值。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0"/>
            <a:ext cx="2377440" cy="2377440"/>
          </a:xfrm>
          <a:prstGeom prst="ellipse">
            <a:avLst/>
          </a:prstGeom>
          <a:solidFill>
            <a:srgbClr val="10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D9C6"/>
                </a:solidFill>
                <a:latin typeface="Source Han Sans CN"/>
                <a:ea typeface="Source Han Sans CN"/>
              </a:rPr>
              <a:t>GOAI 2026 · AGENT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94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BB0D0"/>
                </a:solidFill>
                <a:latin typeface="Source Han Sans CN"/>
                <a:ea typeface="Source Han Sans CN"/>
              </a:rPr>
              <a:t>15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55680" cy="0"/>
          </a:xfrm>
          <a:prstGeom prst="line">
            <a:avLst/>
          </a:prstGeom>
          <a:ln w="10160">
            <a:solidFill>
              <a:srgbClr val="174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7FAFF"/>
                </a:solidFill>
                <a:latin typeface="Source Han Sans CN"/>
                <a:ea typeface="Source Han Sans CN"/>
              </a:rPr>
              <a:t>开放边界、外部集成与模型使用全部显式披露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项目按 Apache-2.0 开源；可复用价值来自契约和证据，而不是推荐组件的数量。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82496"/>
            <a:ext cx="5212080" cy="1664208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82496"/>
            <a:ext cx="54864" cy="1664208"/>
          </a:xfrm>
          <a:prstGeom prst="rect">
            <a:avLst/>
          </a:prstGeom>
          <a:solidFill>
            <a:srgbClr val="246BFD"/>
          </a:solidFill>
          <a:ln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47088"/>
            <a:ext cx="4754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7FAFF"/>
                </a:solidFill>
                <a:latin typeface="Source Han Sans CN"/>
                <a:ea typeface="Source Han Sans CN"/>
              </a:rPr>
              <a:t>授权与依赖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95144"/>
            <a:ext cx="47548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70" b="0">
                <a:solidFill>
                  <a:srgbClr val="9BB0D0"/>
                </a:solidFill>
                <a:latin typeface="Source Han Sans CN"/>
                <a:ea typeface="Source Han Sans CN"/>
              </a:rPr>
              <a:t>LICENSE 采用 Apache-2.0；NOTICE、分享规则、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70" b="0">
                <a:solidFill>
                  <a:srgbClr val="9BB0D0"/>
                </a:solidFill>
                <a:latin typeface="Source Han Sans CN"/>
                <a:ea typeface="Source Han Sans CN"/>
              </a:rPr>
              <a:t>THIRD_PARTY_NOTICES 与关键版本已进仓。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82496"/>
            <a:ext cx="5212080" cy="1664208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682496"/>
            <a:ext cx="54864" cy="1664208"/>
          </a:xfrm>
          <a:prstGeom prst="rect">
            <a:avLst/>
          </a:prstGeom>
          <a:solidFill>
            <a:srgbClr val="16D9C6"/>
          </a:solidFill>
          <a:ln>
            <a:solidFill>
              <a:srgbClr val="16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847088"/>
            <a:ext cx="4754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7FAFF"/>
                </a:solidFill>
                <a:latin typeface="Source Han Sans CN"/>
                <a:ea typeface="Source Han Sans CN"/>
              </a:rPr>
              <a:t>MCP 适配边界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295144"/>
            <a:ext cx="47548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70" b="0">
                <a:solidFill>
                  <a:srgbClr val="9BB0D0"/>
                </a:solidFill>
                <a:latin typeface="Source Han Sans CN"/>
                <a:ea typeface="Source Han Sans CN"/>
              </a:rPr>
              <a:t>当前不运行 MCP Server。可保留 capability、Skill、权限与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70" b="0">
                <a:solidFill>
                  <a:srgbClr val="9BB0D0"/>
                </a:solidFill>
                <a:latin typeface="Source Han Sans CN"/>
                <a:ea typeface="Source Han Sans CN"/>
              </a:rPr>
              <a:t>Receipt 合同新增 adapter；MCP 传输、会话、工具发现和鉴权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70" b="0">
                <a:solidFill>
                  <a:srgbClr val="9BB0D0"/>
                </a:solidFill>
                <a:latin typeface="Source Han Sans CN"/>
                <a:ea typeface="Source Han Sans CN"/>
              </a:rPr>
              <a:t>映射仍需实现与验证。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30168"/>
            <a:ext cx="5212080" cy="1664208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630168"/>
            <a:ext cx="54864" cy="1664208"/>
          </a:xfrm>
          <a:prstGeom prst="rect">
            <a:avLst/>
          </a:prstGeom>
          <a:solidFill>
            <a:srgbClr val="FFD45A"/>
          </a:solidFill>
          <a:ln>
            <a:solidFill>
              <a:srgbClr val="FFD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94759"/>
            <a:ext cx="4754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7FAFF"/>
                </a:solidFill>
                <a:latin typeface="Source Han Sans CN"/>
                <a:ea typeface="Source Han Sans CN"/>
              </a:rPr>
              <a:t>官方 Skills 复用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42816"/>
            <a:ext cx="47548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70" b="0">
                <a:solidFill>
                  <a:srgbClr val="9BB0D0"/>
                </a:solidFill>
                <a:latin typeface="Source Han Sans CN"/>
                <a:ea typeface="Source Han Sans CN"/>
              </a:rPr>
              <a:t>不为堆叠工具而强接。ECS Skill 保留 JSON Schema、scope、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70" b="0">
                <a:solidFill>
                  <a:srgbClr val="9BB0D0"/>
                </a:solidFill>
                <a:latin typeface="Source Han Sans CN"/>
                <a:ea typeface="Source Han Sans CN"/>
              </a:rPr>
              <a:t>grant 与 Receipt 边界；接入阿里云官方用云 Skills 时通过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70" b="0">
                <a:solidFill>
                  <a:srgbClr val="9BB0D0"/>
                </a:solidFill>
                <a:latin typeface="Source Han Sans CN"/>
                <a:ea typeface="Source Han Sans CN"/>
              </a:rPr>
              <a:t>Connector adapter 复用。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630168"/>
            <a:ext cx="5212080" cy="1664208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2" y="3630168"/>
            <a:ext cx="54864" cy="1664208"/>
          </a:xfrm>
          <a:prstGeom prst="rect">
            <a:avLst/>
          </a:prstGeom>
          <a:solidFill>
            <a:srgbClr val="FF5C8A"/>
          </a:solidFill>
          <a:ln>
            <a:solidFill>
              <a:srgbClr val="FF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3794759"/>
            <a:ext cx="4754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7FAFF"/>
                </a:solidFill>
                <a:latin typeface="Source Han Sans CN"/>
                <a:ea typeface="Source Han Sans CN"/>
              </a:rPr>
              <a:t>模型、数据与可替换性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242816"/>
            <a:ext cx="47548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70" b="0">
                <a:solidFill>
                  <a:srgbClr val="9BB0D0"/>
                </a:solidFill>
                <a:latin typeface="Source Han Sans CN"/>
                <a:ea typeface="Source Han Sans CN"/>
              </a:rPr>
              <a:t>在线演示可配置 OpenAI-compatible 服务；交付包留存 Qwen3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70" b="0">
                <a:solidFill>
                  <a:srgbClr val="9BB0D0"/>
                </a:solidFill>
                <a:latin typeface="Source Han Sans CN"/>
                <a:ea typeface="Source Han Sans CN"/>
              </a:rPr>
              <a:t>0.6B/1.7B 本地评测证据。安装包不嵌入 Key；凭证由使用者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70" b="0">
                <a:solidFill>
                  <a:srgbClr val="9BB0D0"/>
                </a:solidFill>
                <a:latin typeface="Source Han Sans CN"/>
                <a:ea typeface="Source Han Sans CN"/>
              </a:rPr>
              <a:t>在设备安全存储中配置并负责轮换。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33872"/>
            <a:ext cx="107899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9BB0D0"/>
                </a:solidFill>
                <a:latin typeface="Source Han Sans CN"/>
                <a:ea typeface="Source Han Sans CN"/>
              </a:rPr>
              <a:t>生产化边界：Office Connector 仍为 local-task:// 演示实现；真实组织系统、TLS/mTLS、外部 Tool 沙箱与独立 Agent principal 不伪装为已完成。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0"/>
            <a:ext cx="2377440" cy="2377440"/>
          </a:xfrm>
          <a:prstGeom prst="ellipse">
            <a:avLst/>
          </a:prstGeom>
          <a:solidFill>
            <a:srgbClr val="10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D9C6"/>
                </a:solidFill>
                <a:latin typeface="Source Han Sans CN"/>
                <a:ea typeface="Source Han Sans CN"/>
              </a:rPr>
              <a:t>GOAI 2026 · AGENT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94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BB0D0"/>
                </a:solidFill>
                <a:latin typeface="Source Han Sans CN"/>
                <a:ea typeface="Source Han Sans CN"/>
              </a:rPr>
              <a:t>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55680" cy="0"/>
          </a:xfrm>
          <a:prstGeom prst="line">
            <a:avLst/>
          </a:prstGeom>
          <a:ln w="10160">
            <a:solidFill>
              <a:srgbClr val="174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005840"/>
            <a:ext cx="14630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800" b="1">
                <a:solidFill>
                  <a:srgbClr val="16D9C6"/>
                </a:solidFill>
                <a:latin typeface="Source Han Sans CN"/>
                <a:ea typeface="Source Han Sans CN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234440"/>
            <a:ext cx="8503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700" b="1">
                <a:solidFill>
                  <a:srgbClr val="F7FAFF"/>
                </a:solidFill>
                <a:latin typeface="Source Han Sans CN"/>
                <a:ea typeface="Source Han Sans CN"/>
              </a:rPr>
              <a:t>落地计划与进展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240280"/>
            <a:ext cx="8503920" cy="0"/>
          </a:xfrm>
          <a:prstGeom prst="line">
            <a:avLst/>
          </a:prstGeom>
          <a:ln w="30480">
            <a:solidFill>
              <a:srgbClr val="246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03120" y="3246120"/>
            <a:ext cx="80467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9BB0D0"/>
                </a:solidFill>
                <a:latin typeface="Source Han Sans CN"/>
                <a:ea typeface="Source Han Sans CN"/>
              </a:rPr>
              <a:t>初赛交付已从“方案”前移到“可运行证据”；复赛聚焦真实组织集成和独立安全主体。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0"/>
            <a:ext cx="2377440" cy="2377440"/>
          </a:xfrm>
          <a:prstGeom prst="ellipse">
            <a:avLst/>
          </a:prstGeom>
          <a:solidFill>
            <a:srgbClr val="10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D9C6"/>
                </a:solidFill>
                <a:latin typeface="Source Han Sans CN"/>
                <a:ea typeface="Source Han Sans CN"/>
              </a:rPr>
              <a:t>GOAI 2026 · AGENT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94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BB0D0"/>
                </a:solidFill>
                <a:latin typeface="Source Han Sans CN"/>
                <a:ea typeface="Source Han Sans CN"/>
              </a:rPr>
              <a:t>17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55680" cy="0"/>
          </a:xfrm>
          <a:prstGeom prst="line">
            <a:avLst/>
          </a:prstGeom>
          <a:ln w="10160">
            <a:solidFill>
              <a:srgbClr val="174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7FAFF"/>
                </a:solidFill>
                <a:latin typeface="Source Han Sans CN"/>
                <a:ea typeface="Source Han Sans CN"/>
              </a:rPr>
              <a:t>从可复现闭环，走向真实组织试点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每个里程碑都用运行入口、证据和失败边界验收。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01568" cy="2926080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4864" cy="2926080"/>
          </a:xfrm>
          <a:prstGeom prst="rect">
            <a:avLst/>
          </a:prstGeom>
          <a:solidFill>
            <a:srgbClr val="42D392"/>
          </a:solidFill>
          <a:ln>
            <a:solidFill>
              <a:srgbClr val="42D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6968" y="2029968"/>
            <a:ext cx="310896" cy="310896"/>
          </a:xfrm>
          <a:prstGeom prst="ellipse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34540"/>
            <a:ext cx="3108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7FAFF"/>
                </a:solidFill>
                <a:latin typeface="Source Han Sans CN"/>
                <a:ea typeface="Source Han Sans CN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1993392"/>
            <a:ext cx="257860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7FAFF"/>
                </a:solidFill>
                <a:latin typeface="Source Han Sans CN"/>
                <a:ea typeface="Source Han Sans CN"/>
              </a:rPr>
              <a:t>初赛 · 已完成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441448"/>
            <a:ext cx="2944368" cy="21762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main 交付快照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兼容 ECS 0.3.0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双路径×5 · 三节点 Trace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Qwen 运行证据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2999232"/>
            <a:ext cx="3840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16D9C6"/>
                </a:solidFill>
                <a:latin typeface="Source Han Sans CN"/>
                <a:ea typeface="Source Han Sans CN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828800"/>
            <a:ext cx="3401568" cy="2926080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1828800"/>
            <a:ext cx="54864" cy="2926080"/>
          </a:xfrm>
          <a:prstGeom prst="rect">
            <a:avLst/>
          </a:prstGeom>
          <a:solidFill>
            <a:srgbClr val="246BFD"/>
          </a:solidFill>
          <a:ln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81728" y="2029968"/>
            <a:ext cx="310896" cy="310896"/>
          </a:xfrm>
          <a:prstGeom prst="ellipse">
            <a:avLst/>
          </a:prstGeom>
          <a:solidFill>
            <a:srgbClr val="246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2034540"/>
            <a:ext cx="3108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7FAFF"/>
                </a:solidFill>
                <a:latin typeface="Source Han Sans CN"/>
                <a:ea typeface="Source Han Sans CN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1993392"/>
            <a:ext cx="257860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7FAFF"/>
                </a:solidFill>
                <a:latin typeface="Source Han Sans CN"/>
                <a:ea typeface="Source Han Sans CN"/>
              </a:rPr>
              <a:t>复赛 · 增强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2441448"/>
            <a:ext cx="2944368" cy="21762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真实组织 Connector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独立 Agent principal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Agent Identity 运行验证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现场/断网手册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8" y="2999232"/>
            <a:ext cx="3840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16D9C6"/>
                </a:solidFill>
                <a:latin typeface="Source Han Sans CN"/>
                <a:ea typeface="Source Han Sans CN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1828800"/>
            <a:ext cx="3401568" cy="2926080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4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20" y="1828800"/>
            <a:ext cx="54864" cy="2926080"/>
          </a:xfrm>
          <a:prstGeom prst="rect">
            <a:avLst/>
          </a:prstGeom>
          <a:solidFill>
            <a:srgbClr val="FFD45A"/>
          </a:solidFill>
          <a:ln>
            <a:solidFill>
              <a:srgbClr val="FFD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76488" y="2029968"/>
            <a:ext cx="310896" cy="310896"/>
          </a:xfrm>
          <a:prstGeom prst="ellipse">
            <a:avLst/>
          </a:prstGeom>
          <a:solidFill>
            <a:srgbClr val="FFD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6488" y="2034540"/>
            <a:ext cx="3108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7FAFF"/>
                </a:solidFill>
                <a:latin typeface="Source Han Sans CN"/>
                <a:ea typeface="Source Han Sans CN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7112" y="1993392"/>
            <a:ext cx="257860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7FAFF"/>
                </a:solidFill>
                <a:latin typeface="Source Han Sans CN"/>
                <a:ea typeface="Source Han Sans CN"/>
              </a:rPr>
              <a:t>决赛 · 试点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1352" y="2441448"/>
            <a:ext cx="2944368" cy="21762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至少 1 位用户反馈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实名审批与工单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评测基线与成本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可验证评审包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166360"/>
            <a:ext cx="1280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20" b="1">
                <a:solidFill>
                  <a:srgbClr val="FF5C8A"/>
                </a:solidFill>
                <a:latin typeface="Source Han Sans CN"/>
                <a:ea typeface="Source Han Sans CN"/>
              </a:rPr>
              <a:t>主要风险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75104" y="5102352"/>
            <a:ext cx="923544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F7FAFF"/>
                </a:solidFill>
                <a:latin typeface="Source Han Sans CN"/>
                <a:ea typeface="Source Han Sans CN"/>
              </a:rPr>
              <a:t>真实 Connector 接入延迟 → 保留幂等 Mock/回放路径   ·   会场网络不可用 → 本地 Qwen + 预录视频   ·   密钥/数据泄漏 → 独立凭证与脱敏交付包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0"/>
            <a:ext cx="2377440" cy="2377440"/>
          </a:xfrm>
          <a:prstGeom prst="ellipse">
            <a:avLst/>
          </a:prstGeom>
          <a:solidFill>
            <a:srgbClr val="10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D9C6"/>
                </a:solidFill>
                <a:latin typeface="Source Han Sans CN"/>
                <a:ea typeface="Source Han Sans CN"/>
              </a:rPr>
              <a:t>GOAI 2026 · AGENT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94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BB0D0"/>
                </a:solidFill>
                <a:latin typeface="Source Han Sans CN"/>
                <a:ea typeface="Source Han Sans CN"/>
              </a:rPr>
              <a:t>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55680" cy="0"/>
          </a:xfrm>
          <a:prstGeom prst="line">
            <a:avLst/>
          </a:prstGeom>
          <a:ln w="10160">
            <a:solidFill>
              <a:srgbClr val="174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005840"/>
            <a:ext cx="14630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800" b="1">
                <a:solidFill>
                  <a:srgbClr val="16D9C6"/>
                </a:solidFill>
                <a:latin typeface="Source Han Sans CN"/>
                <a:ea typeface="Source Han Sans CN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234440"/>
            <a:ext cx="8503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700" b="1">
                <a:solidFill>
                  <a:srgbClr val="F7FAFF"/>
                </a:solidFill>
                <a:latin typeface="Source Han Sans CN"/>
                <a:ea typeface="Source Han Sans CN"/>
              </a:rPr>
              <a:t>团队介绍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240280"/>
            <a:ext cx="8503920" cy="0"/>
          </a:xfrm>
          <a:prstGeom prst="line">
            <a:avLst/>
          </a:prstGeom>
          <a:ln w="30480">
            <a:solidFill>
              <a:srgbClr val="246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03120" y="3246120"/>
            <a:ext cx="80467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9BB0D0"/>
                </a:solidFill>
                <a:latin typeface="Source Han Sans CN"/>
                <a:ea typeface="Source Han Sans CN"/>
              </a:rPr>
              <a:t>以 Git 提交、GitHub Issue 和 PR 为事实口径，不填写无法验证的学历或职业背景。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0"/>
            <a:ext cx="2377440" cy="2377440"/>
          </a:xfrm>
          <a:prstGeom prst="ellipse">
            <a:avLst/>
          </a:prstGeom>
          <a:solidFill>
            <a:srgbClr val="10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D9C6"/>
                </a:solidFill>
                <a:latin typeface="Source Han Sans CN"/>
                <a:ea typeface="Source Han Sans CN"/>
              </a:rPr>
              <a:t>GOAI 2026 · AGENT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94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BB0D0"/>
                </a:solidFill>
                <a:latin typeface="Source Han Sans CN"/>
                <a:ea typeface="Source Han Sans CN"/>
              </a:rPr>
              <a:t>19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55680" cy="0"/>
          </a:xfrm>
          <a:prstGeom prst="line">
            <a:avLst/>
          </a:prstGeom>
          <a:ln w="10160">
            <a:solidFill>
              <a:srgbClr val="174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7FAFF"/>
                </a:solidFill>
                <a:latin typeface="Source Han Sans CN"/>
                <a:ea typeface="Source Han Sans CN"/>
              </a:rPr>
              <a:t>架构与实现 × 独立评审与质量治理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20" b="0">
                <a:solidFill>
                  <a:srgbClr val="9BB0D0"/>
                </a:solidFill>
                <a:latin typeface="Source Han Sans CN"/>
                <a:ea typeface="Source Han Sans CN"/>
              </a:rPr>
              <a:t>两人团队用“快速实现 → 证据审计 → 边界修正 → 回归交付”的方式协作。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358384" cy="418795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1993392"/>
            <a:ext cx="411480" cy="411480"/>
          </a:xfrm>
          <a:prstGeom prst="ellipse">
            <a:avLst/>
          </a:prstGeom>
          <a:solidFill>
            <a:srgbClr val="246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97964"/>
            <a:ext cx="411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7FAFF"/>
                </a:solidFill>
                <a:latin typeface="Source Han Sans CN"/>
                <a:ea typeface="Source Han Sans C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920240"/>
            <a:ext cx="3886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F7FAFF"/>
                </a:solidFill>
                <a:latin typeface="Source Han Sans CN"/>
                <a:ea typeface="Source Han Sans CN"/>
              </a:rPr>
              <a:t>项目负责人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4663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246BFD"/>
                </a:solidFill>
                <a:latin typeface="Source Han Sans CN"/>
                <a:ea typeface="Source Han Sans CN"/>
              </a:rPr>
              <a:t>架构与全栈实现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907792"/>
            <a:ext cx="2880360" cy="310896"/>
          </a:xfrm>
          <a:prstGeom prst="roundRect">
            <a:avLst>
              <a:gd name="adj" fmla="val 8000"/>
            </a:avLst>
          </a:prstGeom>
          <a:solidFill>
            <a:srgbClr val="246BFD"/>
          </a:solidFill>
          <a:ln>
            <a:solidFill>
              <a:srgbClr val="246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16936"/>
            <a:ext cx="2880360" cy="2651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F7FAFF"/>
                </a:solidFill>
                <a:latin typeface="Source Han Sans CN"/>
                <a:ea typeface="Source Han Sans CN"/>
              </a:rPr>
              <a:t>107 条 Git 作者提交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493008"/>
            <a:ext cx="109728" cy="109728"/>
          </a:xfrm>
          <a:prstGeom prst="ellipse">
            <a:avLst/>
          </a:prstGeom>
          <a:solidFill>
            <a:srgbClr val="246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497579"/>
            <a:ext cx="10972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" b="1">
                <a:solidFill>
                  <a:srgbClr val="F7FAFF"/>
                </a:solidFill>
                <a:latin typeface="Source Han Sans CN"/>
                <a:ea typeface="Source Han Sans CN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1" y="3383280"/>
            <a:ext cx="444398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40" b="0">
                <a:solidFill>
                  <a:srgbClr val="F7FAFF"/>
                </a:solidFill>
                <a:latin typeface="Source Han Sans CN"/>
                <a:ea typeface="Source Han Sans CN"/>
              </a:rPr>
              <a:t>设计并实现分布式 Go 内核、Agent/Skill/Office 分层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23359"/>
            <a:ext cx="109728" cy="109728"/>
          </a:xfrm>
          <a:prstGeom prst="ellipse">
            <a:avLst/>
          </a:prstGeom>
          <a:solidFill>
            <a:srgbClr val="246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27931"/>
            <a:ext cx="10972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" b="1">
                <a:solidFill>
                  <a:srgbClr val="F7FAFF"/>
                </a:solidFill>
                <a:latin typeface="Source Han Sans CN"/>
                <a:ea typeface="Source Han Sans CN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1" y="3913632"/>
            <a:ext cx="444398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40" b="0">
                <a:solidFill>
                  <a:srgbClr val="F7FAFF"/>
                </a:solidFill>
                <a:latin typeface="Source Han Sans CN"/>
                <a:ea typeface="Source Han Sans CN"/>
              </a:rPr>
              <a:t>落地关系授权、审批、Receipt、补偿与 durable execution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553712"/>
            <a:ext cx="109728" cy="109728"/>
          </a:xfrm>
          <a:prstGeom prst="ellipse">
            <a:avLst/>
          </a:prstGeom>
          <a:solidFill>
            <a:srgbClr val="246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558283"/>
            <a:ext cx="10972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" b="1">
                <a:solidFill>
                  <a:srgbClr val="F7FAFF"/>
                </a:solidFill>
                <a:latin typeface="Source Han Sans CN"/>
                <a:ea typeface="Source Han Sans CN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1" y="4443984"/>
            <a:ext cx="444398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40" b="0">
                <a:solidFill>
                  <a:srgbClr val="F7FAFF"/>
                </a:solidFill>
                <a:latin typeface="Source Han Sans CN"/>
                <a:ea typeface="Source Han Sans CN"/>
              </a:rPr>
              <a:t>完成 Android / iOS / HarmonyOS / Windows / Browser / Linux 交付</a:t>
            </a:r>
          </a:p>
        </p:txBody>
      </p:sp>
      <p:sp>
        <p:nvSpPr>
          <p:cNvPr id="24" name="Oval 23"/>
          <p:cNvSpPr/>
          <p:nvPr/>
        </p:nvSpPr>
        <p:spPr>
          <a:xfrm>
            <a:off x="932688" y="5084064"/>
            <a:ext cx="109728" cy="109728"/>
          </a:xfrm>
          <a:prstGeom prst="ellipse">
            <a:avLst/>
          </a:prstGeom>
          <a:solidFill>
            <a:srgbClr val="246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5088636"/>
            <a:ext cx="10972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" b="1">
                <a:solidFill>
                  <a:srgbClr val="F7FAFF"/>
                </a:solidFill>
                <a:latin typeface="Source Han Sans CN"/>
                <a:ea typeface="Source Han Sans CN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1" y="4974336"/>
            <a:ext cx="444398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40" b="0">
                <a:solidFill>
                  <a:srgbClr val="F7FAFF"/>
                </a:solidFill>
                <a:latin typeface="Source Han Sans CN"/>
                <a:ea typeface="Source Han Sans CN"/>
              </a:rPr>
              <a:t>负责 CI、AgentTeams E2E、小模型回归、Demo 与部署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82512" y="1737360"/>
            <a:ext cx="5358384" cy="4187952"/>
          </a:xfrm>
          <a:prstGeom prst="roundRect">
            <a:avLst>
              <a:gd name="adj" fmla="val 8000"/>
            </a:avLst>
          </a:prstGeom>
          <a:solidFill>
            <a:srgbClr val="0C244A"/>
          </a:solidFill>
          <a:ln w="12700">
            <a:solidFill>
              <a:srgbClr val="16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29400" y="1993392"/>
            <a:ext cx="411480" cy="411480"/>
          </a:xfrm>
          <a:prstGeom prst="ellipse">
            <a:avLst/>
          </a:prstGeom>
          <a:solidFill>
            <a:srgbClr val="16D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1997964"/>
            <a:ext cx="411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7FAFF"/>
                </a:solidFill>
                <a:latin typeface="Source Han Sans CN"/>
                <a:ea typeface="Source Han Sans CN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87184" y="1920240"/>
            <a:ext cx="3886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F7FAFF"/>
                </a:solidFill>
                <a:latin typeface="Source Han Sans CN"/>
                <a:ea typeface="Source Han Sans CN"/>
              </a:rPr>
              <a:t>质量评审贡献者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2487168"/>
            <a:ext cx="4663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6D9C6"/>
                </a:solidFill>
                <a:latin typeface="Source Han Sans CN"/>
                <a:ea typeface="Source Han Sans CN"/>
              </a:rPr>
              <a:t>安全与交付质量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56832" y="2907792"/>
            <a:ext cx="3794760" cy="310896"/>
          </a:xfrm>
          <a:prstGeom prst="roundRect">
            <a:avLst>
              <a:gd name="adj" fmla="val 8000"/>
            </a:avLst>
          </a:prstGeom>
          <a:solidFill>
            <a:srgbClr val="16D9C6"/>
          </a:solidFill>
          <a:ln>
            <a:solidFill>
              <a:srgbClr val="16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56832" y="2916936"/>
            <a:ext cx="3794760" cy="2651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07152F"/>
                </a:solidFill>
                <a:latin typeface="Source Han Sans CN"/>
                <a:ea typeface="Source Han Sans CN"/>
              </a:rPr>
              <a:t>9 提交 · 20 Issue · 4 PR（3 合并）</a:t>
            </a:r>
          </a:p>
        </p:txBody>
      </p:sp>
      <p:sp>
        <p:nvSpPr>
          <p:cNvPr id="34" name="Oval 33"/>
          <p:cNvSpPr/>
          <p:nvPr/>
        </p:nvSpPr>
        <p:spPr>
          <a:xfrm>
            <a:off x="6675120" y="3493008"/>
            <a:ext cx="109728" cy="109728"/>
          </a:xfrm>
          <a:prstGeom prst="ellipse">
            <a:avLst/>
          </a:prstGeom>
          <a:solidFill>
            <a:srgbClr val="16D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497579"/>
            <a:ext cx="10972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" b="1">
                <a:solidFill>
                  <a:srgbClr val="F7FAFF"/>
                </a:solidFill>
                <a:latin typeface="Source Han Sans CN"/>
                <a:ea typeface="Source Han Sans CN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12864" y="3383280"/>
            <a:ext cx="444398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40" b="0">
                <a:solidFill>
                  <a:srgbClr val="F7FAFF"/>
                </a:solidFill>
                <a:latin typeface="Source Han Sans CN"/>
                <a:ea typeface="Source Han Sans CN"/>
              </a:rPr>
              <a:t>持续审计授权、跨节点能力收窄、Trace 与构建复现性</a:t>
            </a:r>
          </a:p>
        </p:txBody>
      </p:sp>
      <p:sp>
        <p:nvSpPr>
          <p:cNvPr id="37" name="Oval 36"/>
          <p:cNvSpPr/>
          <p:nvPr/>
        </p:nvSpPr>
        <p:spPr>
          <a:xfrm>
            <a:off x="6675120" y="4023359"/>
            <a:ext cx="109728" cy="109728"/>
          </a:xfrm>
          <a:prstGeom prst="ellipse">
            <a:avLst/>
          </a:prstGeom>
          <a:solidFill>
            <a:srgbClr val="16D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027931"/>
            <a:ext cx="10972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" b="1">
                <a:solidFill>
                  <a:srgbClr val="F7FAFF"/>
                </a:solidFill>
                <a:latin typeface="Source Han Sans CN"/>
                <a:ea typeface="Source Han Sans CN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12864" y="3913632"/>
            <a:ext cx="444398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40" b="0">
                <a:solidFill>
                  <a:srgbClr val="F7FAFF"/>
                </a:solidFill>
                <a:latin typeface="Source Han Sans CN"/>
                <a:ea typeface="Source Han Sans CN"/>
              </a:rPr>
              <a:t>发现并推动修复安全 P1、Manifest/Handler 漂移与文档失真</a:t>
            </a:r>
          </a:p>
        </p:txBody>
      </p:sp>
      <p:sp>
        <p:nvSpPr>
          <p:cNvPr id="40" name="Oval 39"/>
          <p:cNvSpPr/>
          <p:nvPr/>
        </p:nvSpPr>
        <p:spPr>
          <a:xfrm>
            <a:off x="6675120" y="4553712"/>
            <a:ext cx="109728" cy="109728"/>
          </a:xfrm>
          <a:prstGeom prst="ellipse">
            <a:avLst/>
          </a:prstGeom>
          <a:solidFill>
            <a:srgbClr val="16D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4558283"/>
            <a:ext cx="10972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" b="1">
                <a:solidFill>
                  <a:srgbClr val="F7FAFF"/>
                </a:solidFill>
                <a:latin typeface="Source Han Sans CN"/>
                <a:ea typeface="Source Han Sans CN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12864" y="4443984"/>
            <a:ext cx="444398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40" b="0">
                <a:solidFill>
                  <a:srgbClr val="F7FAFF"/>
                </a:solidFill>
                <a:latin typeface="Source Han Sans CN"/>
                <a:ea typeface="Source Han Sans CN"/>
              </a:rPr>
              <a:t>建立 AGENTS/Harness 治理入口与仓库自检规约</a:t>
            </a:r>
          </a:p>
        </p:txBody>
      </p:sp>
      <p:sp>
        <p:nvSpPr>
          <p:cNvPr id="43" name="Oval 42"/>
          <p:cNvSpPr/>
          <p:nvPr/>
        </p:nvSpPr>
        <p:spPr>
          <a:xfrm>
            <a:off x="6675120" y="5084064"/>
            <a:ext cx="109728" cy="109728"/>
          </a:xfrm>
          <a:prstGeom prst="ellipse">
            <a:avLst/>
          </a:prstGeom>
          <a:solidFill>
            <a:srgbClr val="16D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5088636"/>
            <a:ext cx="10972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" b="1">
                <a:solidFill>
                  <a:srgbClr val="F7FAFF"/>
                </a:solidFill>
                <a:latin typeface="Source Han Sans CN"/>
                <a:ea typeface="Source Han Sans CN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12864" y="4974336"/>
            <a:ext cx="444398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40" b="0">
                <a:solidFill>
                  <a:srgbClr val="F7FAFF"/>
                </a:solidFill>
                <a:latin typeface="Source Han Sans CN"/>
                <a:ea typeface="Source Han Sans CN"/>
              </a:rPr>
              <a:t>加固 PPT 字体、版式、备注安全和运行证据来源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" y="6099048"/>
            <a:ext cx="10789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>
                <a:solidFill>
                  <a:srgbClr val="9BB0D0"/>
                </a:solidFill>
                <a:latin typeface="Source Han Sans CN"/>
                <a:ea typeface="Source Han Sans CN"/>
              </a:rPr>
              <a:t>统计基线 main@a3de47a（2026-08-09）；贡献统计已按作者身份归并。团队职责仅基于可核验贡献，不外推个人背景。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ECS · GOAI Agent Infra 初赛方案</dc:title>
  <dc:subject>可授权、可验证、可追溯的可信会议督办闭环</dc:subject>
  <dc:creator>ECS Team</dc:creator>
  <cp:keywords/>
  <dc:description>基于仓库可复现证据生成；未包含凭证或真实组织数据。</dc:description>
  <cp:lastModifiedBy>ECS Team</cp:lastModifiedBy>
  <cp:revision>1</cp:revision>
  <dcterms:created xsi:type="dcterms:W3CDTF">2013-01-27T09:14:16Z</dcterms:created>
  <dcterms:modified xsi:type="dcterms:W3CDTF">2013-01-27T09:15:58Z</dcterms:modified>
  <cp:category/>
</cp:coreProperties>
</file>