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a49254a35b547d8" Type="http://schemas.openxmlformats.org/officeDocument/2006/relationships/extended-properties" Target="docProps/app.xml"/><Relationship Id="Ra7871b2ae8ec4a8c" Type="http://schemas.openxmlformats.org/package/2006/relationships/metadata/core-properties" Target="docProps/core.xml"/><Relationship Id="Rf40d0c54dfee465b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fe528322294bec"/>
  </p:sldMasterIdLst>
  <p:notesMasterIdLst>
    <p:notesMasterId xmlns:r="http://schemas.openxmlformats.org/officeDocument/2006/relationships" r:id="Rf6fa5a3a15c04a2b"/>
  </p:notesMasterIdLst>
  <p:sldIdLst>
    <p:sldId xmlns:r="http://schemas.openxmlformats.org/officeDocument/2006/relationships" id="256" r:id="R4f300f689ffc45e9"/>
    <p:sldId xmlns:r="http://schemas.openxmlformats.org/officeDocument/2006/relationships" id="257" r:id="Rf9020c2546144d4a"/>
    <p:sldId xmlns:r="http://schemas.openxmlformats.org/officeDocument/2006/relationships" id="258" r:id="R454a73d8802a47e1"/>
    <p:sldId xmlns:r="http://schemas.openxmlformats.org/officeDocument/2006/relationships" id="259" r:id="Rbbba1bbf7e9b4b84"/>
    <p:sldId xmlns:r="http://schemas.openxmlformats.org/officeDocument/2006/relationships" id="260" r:id="Rc61c0f48b52e40e9"/>
    <p:sldId xmlns:r="http://schemas.openxmlformats.org/officeDocument/2006/relationships" id="261" r:id="R9a3db4de8c9c4a19"/>
    <p:sldId xmlns:r="http://schemas.openxmlformats.org/officeDocument/2006/relationships" id="262" r:id="R127f6bb012214b0e"/>
    <p:sldId xmlns:r="http://schemas.openxmlformats.org/officeDocument/2006/relationships" id="263" r:id="R9c3df58ba8794f3e"/>
    <p:sldId xmlns:r="http://schemas.openxmlformats.org/officeDocument/2006/relationships" id="264" r:id="R8d6a8f3910214eb2"/>
    <p:sldId xmlns:r="http://schemas.openxmlformats.org/officeDocument/2006/relationships" id="265" r:id="Re45f2841a0b344ac"/>
    <p:sldId xmlns:r="http://schemas.openxmlformats.org/officeDocument/2006/relationships" id="266" r:id="Rdd2dd4b903764a54"/>
    <p:sldId xmlns:r="http://schemas.openxmlformats.org/officeDocument/2006/relationships" id="267" r:id="R0ce00671c8854ddf"/>
    <p:sldId xmlns:r="http://schemas.openxmlformats.org/officeDocument/2006/relationships" id="268" r:id="R8698023d4cd642eb"/>
    <p:sldId xmlns:r="http://schemas.openxmlformats.org/officeDocument/2006/relationships" id="269" r:id="R4d84ae6aab5445fe"/>
    <p:sldId xmlns:r="http://schemas.openxmlformats.org/officeDocument/2006/relationships" id="270" r:id="R1e391c1449bf4e5e"/>
    <p:sldId xmlns:r="http://schemas.openxmlformats.org/officeDocument/2006/relationships" id="271" r:id="R7de5fb1f7c0e46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ce00671c8854ddf" Type="http://schemas.openxmlformats.org/officeDocument/2006/relationships/slide" Target="slides/slide12.xml"/><Relationship Id="R127f6bb012214b0e" Type="http://schemas.openxmlformats.org/officeDocument/2006/relationships/slide" Target="slides/slide7.xml"/><Relationship Id="R1e391c1449bf4e5e" Type="http://schemas.openxmlformats.org/officeDocument/2006/relationships/slide" Target="slides/slide15.xml"/><Relationship Id="R454a73d8802a47e1" Type="http://schemas.openxmlformats.org/officeDocument/2006/relationships/slide" Target="slides/slide3.xml"/><Relationship Id="R4d84ae6aab5445fe" Type="http://schemas.openxmlformats.org/officeDocument/2006/relationships/slide" Target="slides/slide14.xml"/><Relationship Id="R4f300f689ffc45e9" Type="http://schemas.openxmlformats.org/officeDocument/2006/relationships/slide" Target="slides/slide1.xml"/><Relationship Id="R7de5fb1f7c0e4651" Type="http://schemas.openxmlformats.org/officeDocument/2006/relationships/slide" Target="slides/slide16.xml"/><Relationship Id="R808d48a895174a08" Type="http://schemas.openxmlformats.org/officeDocument/2006/relationships/tableStyles" Target="tableStyles.xml"/><Relationship Id="R8698023d4cd642eb" Type="http://schemas.openxmlformats.org/officeDocument/2006/relationships/slide" Target="slides/slide13.xml"/><Relationship Id="R87fe528322294bec" Type="http://schemas.openxmlformats.org/officeDocument/2006/relationships/slideMaster" Target="slideMasters/slideMaster1.xml"/><Relationship Id="R8d6a8f3910214eb2" Type="http://schemas.openxmlformats.org/officeDocument/2006/relationships/slide" Target="slides/slide9.xml"/><Relationship Id="R900f57b525b84c64" Type="http://schemas.openxmlformats.org/officeDocument/2006/relationships/theme" Target="theme/theme1.xml"/><Relationship Id="R9a3db4de8c9c4a19" Type="http://schemas.openxmlformats.org/officeDocument/2006/relationships/slide" Target="slides/slide6.xml"/><Relationship Id="R9c3df58ba8794f3e" Type="http://schemas.openxmlformats.org/officeDocument/2006/relationships/slide" Target="slides/slide8.xml"/><Relationship Id="R9d05a928ff9d43eb" Type="http://schemas.openxmlformats.org/officeDocument/2006/relationships/presProps" Target="presProps.xml"/><Relationship Id="Rbbba1bbf7e9b4b84" Type="http://schemas.openxmlformats.org/officeDocument/2006/relationships/slide" Target="slides/slide4.xml"/><Relationship Id="Rc61c0f48b52e40e9" Type="http://schemas.openxmlformats.org/officeDocument/2006/relationships/slide" Target="slides/slide5.xml"/><Relationship Id="Rdd2dd4b903764a54" Type="http://schemas.openxmlformats.org/officeDocument/2006/relationships/slide" Target="slides/slide11.xml"/><Relationship Id="Re45f2841a0b344ac" Type="http://schemas.openxmlformats.org/officeDocument/2006/relationships/slide" Target="slides/slide10.xml"/><Relationship Id="Rf6fa5a3a15c04a2b" Type="http://schemas.openxmlformats.org/officeDocument/2006/relationships/notesMaster" Target="notesMasters/notesMaster1.xml"/><Relationship Id="Rf9020c2546144d4a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0699b5c0d9354d9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Microsoft YaHei"/>
        <a:cs typeface="Calibri Light"/>
      </a:majorFont>
      <a:minorFont>
        <a:latin typeface="Calibri"/>
        <a:ea typeface="Microsoft YaHe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5d42290031e405d" Type="http://schemas.openxmlformats.org/officeDocument/2006/relationships/slide" Target="../slides/slide1.xml"/><Relationship Id="R8dd9c616d4544190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abe54b7d1fa4623" Type="http://schemas.openxmlformats.org/officeDocument/2006/relationships/slide" Target="../slides/slide2.xml"/><Relationship Id="Rb680151586604030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dd94491f9004425" Type="http://schemas.openxmlformats.org/officeDocument/2006/relationships/notesMaster" Target="../notesMasters/notesMaster1.xml"/><Relationship Id="R67707967941e4c6d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71a282d170284a12" Type="http://schemas.openxmlformats.org/officeDocument/2006/relationships/notesMaster" Target="../notesMasters/notesMaster1.xml"/><Relationship Id="R76ea2eaafe7d48d5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69271c6c39974540" Type="http://schemas.openxmlformats.org/officeDocument/2006/relationships/slide" Target="../slides/slide5.xml"/><Relationship Id="Rd53e894e7fb74f34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7d23db08a5c404a" Type="http://schemas.openxmlformats.org/officeDocument/2006/relationships/slide" Target="../slides/slide6.xml"/><Relationship Id="R585b9f839b074d97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a2e0d71bdbda472d" Type="http://schemas.openxmlformats.org/officeDocument/2006/relationships/slide" Target="../slides/slide7.xml"/><Relationship Id="Re9696fb4ae0e46c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9afca4434cc74d6f" Type="http://schemas.openxmlformats.org/officeDocument/2006/relationships/notesMaster" Target="../notesMasters/notesMaster1.xml"/><Relationship Id="Rabb9cce675104fd1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2fa01a910fa4f3d" Type="http://schemas.openxmlformats.org/officeDocument/2006/relationships/slide" Target="../slides/slide9.xml"/><Relationship Id="Ra952bda55c4849e7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0b3ae6df1ae9448d" Type="http://schemas.openxmlformats.org/officeDocument/2006/relationships/notesMaster" Target="../notesMasters/notesMaster1.xml"/><Relationship Id="R6186bedc6c1545e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3cca3a9c2022458a" Type="http://schemas.openxmlformats.org/officeDocument/2006/relationships/notesMaster" Target="../notesMasters/notesMaster1.xml"/><Relationship Id="Rf20d33a9321d4861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1e80825c62fc4afa" Type="http://schemas.openxmlformats.org/officeDocument/2006/relationships/notesMaster" Target="../notesMasters/notesMaster1.xml"/><Relationship Id="Rd98542eea1294131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4f63067dcdfe429f" Type="http://schemas.openxmlformats.org/officeDocument/2006/relationships/slide" Target="../slides/slide13.xml"/><Relationship Id="Rfdfc23dfe8af494f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0f4c4faa7e0a4a0e" Type="http://schemas.openxmlformats.org/officeDocument/2006/relationships/notesMaster" Target="../notesMasters/notesMaster1.xml"/><Relationship Id="R9c196b34483c4ce4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41fc034f2fc74b45" Type="http://schemas.openxmlformats.org/officeDocument/2006/relationships/slide" Target="../slides/slide15.xml"/><Relationship Id="Rd26c6cdabf3f40cb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1dcd34ac1a04462a" Type="http://schemas.openxmlformats.org/officeDocument/2006/relationships/notesMaster" Target="../notesMasters/notesMaster1.xml"/><Relationship Id="R425cfd06429649aa" Type="http://schemas.openxmlformats.org/officeDocument/2006/relationships/slide" Target="../slides/slide16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ECS 不是会议总结工具，而是让多 Agent 的真实行动进入受控执行链：AgentTeams 负责编排，ECS 负责授权、验证与追溯。当前以私有评审方式提交，不对外宣称已经开源。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https://github.com/yourblacksky/ECS</a:t>
            </a:r>
          </a:p>
          <a:p xmlns:a="http://schemas.openxmlformats.org/drawingml/2006/main">
            <a:r>
              <a:t>- https://github.com/yourblacksky/ECS/blob/main/LICENSE</a:t>
            </a:r>
          </a:p>
          <a:p xmlns:a="http://schemas.openxmlformats.org/drawingml/2006/main">
            <a:r>
              <a:t>- https://goaihz.com/tracks?track=infra</a:t>
            </a:r>
          </a:p>
          <a:p xmlns:a="http://schemas.openxmlformats.org/drawingml/2006/main">
            <a:r>
              <a:t>- https://github.com/yourblacksky/ECS/blob/main/assets/branding/ecs-app-icon-master.png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会议督办同时涉及责任、外部写动作和结果核验。这里讨论的是组织行动如何闭环，不是纪要文风。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https://github.com/yourblacksky/ECS/blob/main/docs/public-enterprise-management-overview.md</a:t>
            </a:r>
          </a:p>
          <a:p xmlns:a="http://schemas.openxmlformats.org/drawingml/2006/main">
            <a:r>
              <a:t>- https://goaihz.com/tracks?track=infra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核心取舍：模型处理语义与表达，系统维护权限、状态、审批、补偿和证据。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https://github.com/yourblacksky/ECS/blob/main/README.md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四个角色已定义在 meeting_followup 组件中；AgentTeams Task 与 Office Stage 的归属、状态和 Trace 映射已有实现。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https://github.com/yourblacksky/ECS/blob/main/office.d/meeting_followup.json</a:t>
            </a:r>
          </a:p>
          <a:p xmlns:a="http://schemas.openxmlformats.org/drawingml/2006/main">
            <a:r>
              <a:t>- https://github.com/yourblacksky/ECS/blob/main/docs/agentteams-office-mapping.md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AgentTeams 五项协同能力逐项落到 ECS：角色编排 → Stage，任务拆解 → Skill，上下文传递 → 签名 office_grant，协同执行 → Stage→Skill→Connector，状态追踪 → Trace。task_id 与 trace_id 贯通协作任务和端侧证据。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https://github.com/yourblacksky/ECS/blob/main/integrations/agentteams/README.md</a:t>
            </a:r>
          </a:p>
          <a:p xmlns:a="http://schemas.openxmlformats.org/drawingml/2006/main">
            <a:r>
              <a:t>- https://github.com/yourblacksky/ECS/blob/main/docs/agentteams-office-mapping.md</a:t>
            </a:r>
          </a:p>
          <a:p xmlns:a="http://schemas.openxmlformats.org/drawingml/2006/main">
            <a:r>
              <a:t>- https://github.com/yourblacksky/ECS/blob/main/internal/server/office_grant.go</a:t>
            </a:r>
          </a:p>
          <a:p xmlns:a="http://schemas.openxmlformats.org/drawingml/2006/main">
            <a:r>
              <a:t>- https://goaihz.com/tracks?track=infra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流程覆盖事实提取、责任核验、审批、执行与 Receipt 验证。确定失败进入补偿；结果未知进入 recovery_required，并沿用原幂等键恢复。停止、失败和恢复都是显式状态。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https://github.com/yourblacksky/ECS/blob/main/office.d/meeting_followup.json</a:t>
            </a:r>
          </a:p>
          <a:p xmlns:a="http://schemas.openxmlformats.org/drawingml/2006/main">
            <a:r>
              <a:t>- https://github.com/yourblacksky/ECS/blob/main/docs/office-human-approval.md</a:t>
            </a:r>
          </a:p>
          <a:p xmlns:a="http://schemas.openxmlformats.org/drawingml/2006/main">
            <a:r>
              <a:t>- https://github.com/yourblacksky/ECS/blob/main/docs/office-receipt-compensation.md</a:t>
            </a:r>
          </a:p>
          <a:p xmlns:a="http://schemas.openxmlformats.org/drawingml/2006/main">
            <a:r>
              <a:t>- https://github.com/yourblacksky/ECS/blob/main/docs/office-durable-execution.md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四个核心 Skill 已经贯通 Office Stage。运行时读取 SKILL.md，在能力可用、角色兼容和关系授权之后注入 grounding；受管知识目录提供本地轻量 RAG。MCP 仍是按需适配的外部连接协议。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https://github.com/yourblacksky/ECS/blob/main/docs/office-stage-skill-connector.md</a:t>
            </a:r>
          </a:p>
          <a:p xmlns:a="http://schemas.openxmlformats.org/drawingml/2006/main">
            <a:r>
              <a:t>- https://github.com/yourblacksky/ECS/blob/main/docs/skill-documentation-grounding.md</a:t>
            </a:r>
          </a:p>
          <a:p xmlns:a="http://schemas.openxmlformats.org/drawingml/2006/main">
            <a:r>
              <a:t>- https://goaihz.com/tracks?track=infra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可信执行由审批、Schema 与幂等、持久化 Attempt/Lease/Outbox、Receipt 验证共同构成。确定失败才补偿；结果未知进入 recovery_required，不伪装 completed。全部状态进入 Trace。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https://github.com/yourblacksky/ECS/blob/main/docs/office-human-approval.md</a:t>
            </a:r>
          </a:p>
          <a:p xmlns:a="http://schemas.openxmlformats.org/drawingml/2006/main">
            <a:r>
              <a:t>- https://github.com/yourblacksky/ECS/blob/main/docs/office-receipt-compensation.md</a:t>
            </a:r>
          </a:p>
          <a:p xmlns:a="http://schemas.openxmlformats.org/drawingml/2006/main">
            <a:r>
              <a:t>- https://github.com/yourblacksky/ECS/blob/main/docs/office-durable-execution.md</a:t>
            </a:r>
          </a:p>
          <a:p xmlns:a="http://schemas.openxmlformats.org/drawingml/2006/main">
            <a:r>
              <a:t>- https://github.com/yourblacksky/ECS/blob/main/docs/json-schema-contracts.md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成功路径证明授权后的执行与回执；失败路径证明缺失信息会阻断外部写动作。当前回归套件已覆盖 Receipt 与补偿的成功和失败分支。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https://github.com/yourblacksky/ECS/blob/main/docs/office-receipt-compensation.md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权重来自 GOAI Agent Infra 官方赛道说明。方案按场景、多 Agent、Skill、工程审计和开放 / 开源五个维度组织证据。当前项目采用私有评审许可，不宣称已经开源；可复用接口、文档与回归资产用于说明开放潜力，公开范围和协议由项目所有者另行决定。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https://goaihz.com/tracks?track=infra</a:t>
            </a:r>
          </a:p>
          <a:p xmlns:a="http://schemas.openxmlformats.org/drawingml/2006/main">
            <a:r>
              <a:t>- https://github.com/yourblacksky/ECS/blob/main/LICENSE</a:t>
            </a:r>
          </a:p>
          <a:p xmlns:a="http://schemas.openxmlformats.org/drawingml/2006/main">
            <a:r>
              <a:t>
上下文能力按参赛四选二口径明确主张：共享状态管理与轨迹可观测。共享状态由 Session 和 Office 持久化对象承载；轨迹由跨节点 Trace、列表与聚合端点、保留策略和 Metrics 承载。
[Sources]
- https://github.com/yourblacksky/ECS/blob/main/README.md
- https://github.com/yourblacksky/ECS/blob/main/docs/three-node-demo.md
- https://github.com/yourblacksky/ECS/blob/main/docs/office-durable-execution.md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这些场景共享的是执行合同，不代表所有业务 Connector 已经内置。真实 OA、知识库和业务系统仍需按部署接入。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https://github.com/yourblacksky/ECS/blob/main/docs/public-enterprise-management-overview.md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【建议时间】12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【本页目的】Office 建单 / 派发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【建议讲法】Office 组件把自然语言目标编译成可持久化工单，并明确目标 Group。这一步说明「任务从哪来、归谁做」是系统状态，不是模型的一句话。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【答辩方式】若评委问这是否只是页面演示，指出截图由真实 mac-controller 管理后台读取仓库内固定会议回归证据；本轮重截日期为 2026-08-07，画面数据可由 evidence/meeting-followup/reference 复查。</a:t>
            </a:r>
          </a:p>
          <a:p xmlns:a="http://schemas.openxmlformats.org/drawingml/2006/main">
            <a:r>
              <a:t>【边界说明】Android 与 HarmonyOS Runtime 正常；iOS 必须使用带 Keychain entitlement 的正常模拟器签名构建，禁用签名会在模型调用前失败。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【建议时间】12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【本页目的】人工审批门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【建议讲法】高风险发布阶段必须经过策略快照与人工审批；批准者、意见和回执数量都被保留。重点强调：批准之前，外部 Connector 调用次数是零。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【答辩方式】若评委问这是否只是页面演示，指出截图由真实 mac-controller 管理后台读取仓库内固定会议回归证据；本轮重截日期为 2026-08-07，画面数据可由 evidence/meeting-followup/reference 复查。</a:t>
            </a:r>
          </a:p>
          <a:p xmlns:a="http://schemas.openxmlformats.org/drawingml/2006/main">
            <a:r>
              <a:t>【边界说明】Android 与 HarmonyOS Runtime 正常；iOS 必须使用带 Keychain entitlement 的正常模拟器签名构建，禁用签名会在模型调用前失败。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【建议时间】12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【本页目的】证据时间线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【建议讲法】审计事件从 work_order.planned、AgentTeams 映射、started/completed，一直到 approval.requested 与 receipt.verified。这条时间线就是可审计性的实体。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【答辩方式】若评委问这是否只是页面演示，指出截图由真实 mac-controller 管理后台读取仓库内固定会议回归证据；本轮重截日期为 2026-08-07，画面数据可由 evidence/meeting-followup/reference 复查。</a:t>
            </a:r>
          </a:p>
          <a:p xmlns:a="http://schemas.openxmlformats.org/drawingml/2006/main">
            <a:r>
              <a:t>【边界说明】Android 与 HarmonyOS Runtime 正常；iOS 必须使用带 Keychain entitlement 的正常模拟器签名构建，禁用签名会在模型调用前失败。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【建议时间】12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【本页目的】三节点 Trace 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【建议讲法】mac-controller 以 broadcast 同时链接 mac-worker-a 与 mac-worker-b，同一 trace_id 串起三节点。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【答辩方式】若评委问这是否只是页面演示，指出截图来自 2026-08-07 的 mac-controller、mac-worker-a、mac-worker-b 三个独立 ECS 实例；Trace f18684b48bc024429d92c492 可在本次本地运行数据中复查。</a:t>
            </a:r>
          </a:p>
          <a:p xmlns:a="http://schemas.openxmlformats.org/drawingml/2006/main">
            <a:r>
              <a:t>【边界说明】Android 与 HarmonyOS Runtime 正常；iOS 必须使用带 Keychain entitlement 的正常模拟器签名构建，禁用签名会在模型调用前失败。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成功与失败路径各连续回归五次，三节点调用、Trace 聚合及 durable recovery 已有可复现证据。下一阶段聚焦真实组织 Connector、可选 MCP 适配和生产安全边界。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https://github.com/yourblacksky/ECS/blob/main/docs/meeting-followup-demo.md</a:t>
            </a:r>
          </a:p>
          <a:p xmlns:a="http://schemas.openxmlformats.org/drawingml/2006/main">
            <a:r>
              <a:t>- https://github.com/yourblacksky/ECS/blob/main/docs/three-node-demo.md</a:t>
            </a:r>
          </a:p>
          <a:p xmlns:a="http://schemas.openxmlformats.org/drawingml/2006/main">
            <a:r>
              <a:t>- https://github.com/yourblacksky/ECS/blob/main/docs/office-durable-execution.md</a:t>
            </a:r>
          </a:p>
          <a:p xmlns:a="http://schemas.openxmlformats.org/drawingml/2006/main">
            <a:r>
              <a:t>- https://github.com/yourblacksky/ECS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094b6cf785542e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98cc904003346a1" Type="http://schemas.openxmlformats.org/officeDocument/2006/relationships/theme" Target="theme/theme2.xml"/><Relationship Id="R997c60f43b904054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7c60f43b9040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Microsoft YaHei"/>
        <a:cs typeface="Calibri Light"/>
      </a:majorFont>
      <a:minorFont>
        <a:latin typeface="Calibri"/>
        <a:ea typeface="Microsoft YaHe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f68966a963141a5" Type="http://schemas.openxmlformats.org/officeDocument/2006/relationships/slideLayout" Target="../slideLayouts/slideLayout1.xml"/><Relationship Id="Rda42742e0b51473f" Type="http://schemas.openxmlformats.org/officeDocument/2006/relationships/notesSlide" Target="../notesSlides/notesSlide1.xml"/><Relationship Id="Rf0a3b5d07bf8406e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9674cd7d1e704588" Type="http://schemas.openxmlformats.org/officeDocument/2006/relationships/notesSlide" Target="../notesSlides/notesSlide2.xml"/><Relationship Id="R979ecc1b176c4414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c21adcd511b4d65" Type="http://schemas.openxmlformats.org/officeDocument/2006/relationships/notesSlide" Target="../notesSlides/notesSlide3.xml"/><Relationship Id="R53aa12b840ea41bd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c9d9571dadcb4fc2" Type="http://schemas.openxmlformats.org/officeDocument/2006/relationships/notesSlide" Target="../notesSlides/notesSlide4.xml"/><Relationship Id="Rcf80b3d1d7234f98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3f72517e5fa642d6" Type="http://schemas.openxmlformats.org/officeDocument/2006/relationships/slideLayout" Target="../slideLayouts/slideLayout1.xml"/><Relationship Id="R9fd94df2522d4e0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032a7208540944ae" Type="http://schemas.openxmlformats.org/officeDocument/2006/relationships/notesSlide" Target="../notesSlides/notesSlide6.xml"/><Relationship Id="Rdd10e4da266c43b5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cd052a611d54077" Type="http://schemas.openxmlformats.org/officeDocument/2006/relationships/notesSlide" Target="../notesSlides/notesSlide7.xml"/><Relationship Id="Rfde3aae393744453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c36cca5e5ad64b5b" Type="http://schemas.openxmlformats.org/officeDocument/2006/relationships/slideLayout" Target="../slideLayouts/slideLayout1.xml"/><Relationship Id="Rf5e789064fd94a0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50af60020a444ef9" Type="http://schemas.openxmlformats.org/officeDocument/2006/relationships/slideLayout" Target="../slideLayouts/slideLayout1.xml"/><Relationship Id="Rba218337daaf4d5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11a9791237de4a9d" Type="http://schemas.openxmlformats.org/officeDocument/2006/relationships/notesSlide" Target="../notesSlides/notesSlide10.xml"/><Relationship Id="R4fd7851edf054953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0c9f1904c0784320" Type="http://schemas.openxmlformats.org/officeDocument/2006/relationships/slideLayout" Target="../slideLayouts/slideLayout1.xml"/><Relationship Id="Ra473e306b44345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58451c8296d844f9" Type="http://schemas.openxmlformats.org/officeDocument/2006/relationships/slideLayout" Target="../slideLayouts/slideLayout1.xml"/><Relationship Id="R9ddae5bab92e46ef" Type="http://schemas.openxmlformats.org/officeDocument/2006/relationships/notesSlide" Target="../notesSlides/notesSlide12.xml"/><Relationship Id="Rd576c0abddce426c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6019033913294506" Type="http://schemas.openxmlformats.org/officeDocument/2006/relationships/notesSlide" Target="../notesSlides/notesSlide13.xml"/><Relationship Id="R62d813729dee4633" Type="http://schemas.openxmlformats.org/officeDocument/2006/relationships/image" Target="../media/image3.png"/><Relationship Id="R6ebab2ce2ea84c17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5760d3e855964cd3" Type="http://schemas.openxmlformats.org/officeDocument/2006/relationships/slideLayout" Target="../slideLayouts/slideLayout1.xml"/><Relationship Id="Ra183cc84e909436d" Type="http://schemas.openxmlformats.org/officeDocument/2006/relationships/image" Target="../media/image4.png"/><Relationship Id="Rd15dfc3087ad457a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15f226aec0f44a1c" Type="http://schemas.openxmlformats.org/officeDocument/2006/relationships/slideLayout" Target="../slideLayouts/slideLayout1.xml"/><Relationship Id="R251a2262e9f04908" Type="http://schemas.openxmlformats.org/officeDocument/2006/relationships/image" Target="../media/image5.png"/><Relationship Id="Rd3e58ba323ad4e21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31c8e8ed55264a04" Type="http://schemas.openxmlformats.org/officeDocument/2006/relationships/notesSlide" Target="../notesSlides/notesSlide16.xml"/><Relationship Id="Rd93e656b681240b6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12B"/>
            </a:gs>
            <a:gs pos="56000">
              <a:srgbClr val="0A1C4B"/>
            </a:gs>
            <a:gs pos="100000">
              <a:srgbClr val="0A47C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8E050-60CC-4C7D-ADE2-45C3D06C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4381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0A6FF">
                  <a:alpha val="45000"/>
                </a:srgbClr>
              </a:gs>
              <a:gs pos="48000">
                <a:srgbClr val="245CFF">
                  <a:alpha val="18000"/>
                </a:srgbClr>
              </a:gs>
              <a:gs pos="76000">
                <a:srgbClr val="24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8B704-2A99-4C2B-B769-8E4FDB8E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905000" cy="1905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0D9C7">
                  <a:alpha val="20000"/>
                </a:srgbClr>
              </a:gs>
              <a:gs pos="72000">
                <a:srgbClr val="00D9C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33CD8-A6D7-404B-AFA6-B4AA7440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D9C7"/>
                </a:solidFill>
              </a:defRPr>
            </a:pPr>
            <a:r>
              <a:rPr sz="1125" b="1">
                <a:solidFill>
                  <a:srgbClr val="00D9C7"/>
                </a:solidFill>
              </a:rPr>
              <a:t>GOAI 2026 · AGENT INFRA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A9D249D-F426-4F6A-992B-D09AF3D3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95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7FAFF"/>
                </a:solidFill>
              </a:defRPr>
            </a:pPr>
            <a:r>
              <a:rPr sz="5400" b="1">
                <a:solidFill>
                  <a:srgbClr val="F7FAFF"/>
                </a:solidFill>
              </a:rPr>
              <a:t>ECS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291BD-8DDF-4697-89AA-191DCA08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7FAFF"/>
                </a:solidFill>
              </a:defRPr>
            </a:pPr>
            <a:r>
              <a:rPr sz="3600" b="1">
                <a:solidFill>
                  <a:srgbClr val="F7FAFF"/>
                </a:solidFill>
              </a:rPr>
              <a:t>可信会议督办闭环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15A74-AC22-4744-B17B-68E093B4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609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7EFFF"/>
                </a:solidFill>
              </a:defRPr>
            </a:pPr>
            <a:r>
              <a:rPr sz="1725" b="0">
                <a:solidFill>
                  <a:srgbClr val="E7EFFF"/>
                </a:solidFill>
              </a:rPr>
              <a:t>让多 Agent 的每次行动都可授权、可验证、可追溯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ECD89-D3D1-4DE7-B193-1A1940F9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466725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D9C7"/>
              </a:gs>
              <a:gs pos="100000">
                <a:srgbClr val="245C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162F6-E501-4DB7-9DD1-0DA217F9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F2C2"/>
                </a:solidFill>
              </a:defRPr>
            </a:pPr>
            <a:r>
              <a:rPr sz="1350" b="1">
                <a:solidFill>
                  <a:srgbClr val="5EF2C2"/>
                </a:solidFill>
              </a:rPr>
              <a:t>AgentTeams 协作层  ×  ECS 可信执行层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95C54-EB61-438A-B9C7-CD89503A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9C9"/>
                </a:solidFill>
              </a:defRPr>
            </a:pPr>
            <a:r>
              <a:rPr sz="1125" b="0">
                <a:solidFill>
                  <a:srgbClr val="94A9C9"/>
                </a:solidFill>
              </a:rPr>
              <a:t>github.com/yourblacksky/ECS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B4853-5DA6-41E9-88F0-42EBA1CF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19200"/>
            <a:ext cx="278130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3b5d07bf840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3900" y="1390650"/>
            <a:ext cx="2438400" cy="2438400"/>
          </a:xfrm>
          <a:prstGeom xmlns:a="http://schemas.openxmlformats.org/drawingml/2006/main" prst="roundRect">
            <a:avLst>
              <a:gd name="adj" fmla="val 625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36C5C-EAC1-4B14-BE11-4D8FF22D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24350"/>
            <a:ext cx="14097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5C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12502-D441-46C0-AFAC-ABC16E85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7197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7FAFF"/>
                </a:solidFill>
              </a:defRPr>
            </a:pPr>
            <a:r>
              <a:rPr sz="1050" b="1">
                <a:solidFill>
                  <a:srgbClr val="F7FAFF"/>
                </a:solidFill>
              </a:rPr>
              <a:t>LOCAL-FIRST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60E1F-2A4F-44CC-B22C-0695EEFB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24350"/>
            <a:ext cx="1219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A6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F06035-0BE4-4761-80D4-645C681C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7197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7FAFF"/>
                </a:solidFill>
              </a:defRPr>
            </a:pPr>
            <a:r>
              <a:rPr sz="1050" b="1">
                <a:solidFill>
                  <a:srgbClr val="F7FAFF"/>
                </a:solidFill>
              </a:rPr>
              <a:t>AUDITABLE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04F5F-B8BC-4666-BC7B-F7FD692B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62500"/>
            <a:ext cx="1524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A984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10541-94E4-45E9-A45B-E5EF0CC3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7FAFF"/>
                </a:solidFill>
              </a:defRPr>
            </a:pPr>
            <a:r>
              <a:rPr sz="1050" b="1">
                <a:solidFill>
                  <a:srgbClr val="F7FAFF"/>
                </a:solidFill>
              </a:rPr>
              <a:t>APACHE-2.0</a:t>
            </a:r>
          </a:p>
        </p:txBody>
      </p:sp>
    </p:spTree>
    <p:extLst>
      <p:ext uri="{BB962C8B-B14F-4D97-AF65-F5344CB8AC3E}">
        <p14:creationId xmlns:p14="http://schemas.microsoft.com/office/powerpoint/2010/main" val="936187424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22D"/>
            </a:gs>
            <a:gs pos="58000">
              <a:srgbClr val="0B1640"/>
            </a:gs>
            <a:gs pos="100000">
              <a:srgbClr val="10245A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6102F-9BCF-46D7-974C-DEA26FEE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45CFF">
                  <a:alpha val="30000"/>
                </a:srgbClr>
              </a:gs>
              <a:gs pos="72000">
                <a:srgbClr val="24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959C0-0D86-4A5A-8D34-771CE1E0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714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0D9C7">
                  <a:alpha val="12000"/>
                </a:srgbClr>
              </a:gs>
              <a:gs pos="72000">
                <a:srgbClr val="00D9C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7B489B5-7F0E-4938-A169-1864BA86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D9C7"/>
                </a:solidFill>
              </a:defRPr>
            </a:pPr>
            <a:r>
              <a:rPr sz="975" b="1">
                <a:solidFill>
                  <a:srgbClr val="00D9C7"/>
                </a:solidFill>
              </a:rPr>
              <a:t>GOAI · AGENT INFRA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DC66387-9ACB-44C4-A0F6-996C6B79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3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9C9"/>
                </a:solidFill>
              </a:defRPr>
            </a:pPr>
            <a:r>
              <a:rPr sz="975" b="1">
                <a:solidFill>
                  <a:srgbClr val="94A9C9"/>
                </a:solidFill>
              </a:rPr>
              <a:t>02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839BA0-22B6-404D-A010-BF5A1468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AFF"/>
                </a:solidFill>
              </a:defRPr>
            </a:pPr>
            <a:r>
              <a:rPr sz="2850" b="1">
                <a:solidFill>
                  <a:srgbClr val="F7FAFF"/>
                </a:solidFill>
              </a:rPr>
              <a:t>会议纪要生成了，但事情仍然没有发生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1B73826-7647-42BD-AA6B-D3326CAE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13525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9C9"/>
                </a:solidFill>
              </a:defRPr>
            </a:pPr>
            <a:r>
              <a:rPr sz="1350" b="0">
                <a:solidFill>
                  <a:srgbClr val="94A9C9"/>
                </a:solidFill>
              </a:rPr>
              <a:t>真正的管理闭环，难点不在“总结”，而在责任、执行与验证。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BC921-C659-4CF7-8A09-7D2D212C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55000">
                <a:srgbClr val="00D9C7"/>
              </a:gs>
              <a:gs pos="100000">
                <a:srgbClr val="00D9C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6C868-31F7-47F8-AD40-49AE9430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87"/>
                </a:solidFill>
              </a:defRPr>
            </a:pPr>
            <a:r>
              <a:rPr sz="2100" b="1">
                <a:solidFill>
                  <a:srgbClr val="FF6B87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8C3AB-1849-4392-89AE-16CF7B7C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8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CA2F7-AC2E-41AD-B4CB-2CAE2175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7FAFF"/>
                </a:solidFill>
              </a:defRPr>
            </a:pPr>
            <a:r>
              <a:rPr sz="1875" b="1">
                <a:solidFill>
                  <a:srgbClr val="F7FAFF"/>
                </a:solidFill>
              </a:rPr>
              <a:t>责任不完整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5EC27-9959-4525-A126-6007D131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9C9"/>
                </a:solidFill>
              </a:defRPr>
            </a:pPr>
            <a:r>
              <a:rPr sz="1350" b="0">
                <a:solidFill>
                  <a:srgbClr val="94A9C9"/>
                </a:solidFill>
              </a:rPr>
              <a:t>责任人、期限或依据缺失时，模型常会自行补全。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B10BD-33E5-4E95-A90B-9ED62804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336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D85A"/>
                </a:solidFill>
              </a:defRPr>
            </a:pPr>
            <a:r>
              <a:rPr sz="2100" b="1">
                <a:solidFill>
                  <a:srgbClr val="FFD85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EC761-7200-4CA0-8C7D-E8C23E2E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5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3BCFE-9F55-4246-9077-492904C4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7FAFF"/>
                </a:solidFill>
              </a:defRPr>
            </a:pPr>
            <a:r>
              <a:rPr sz="1875" b="1">
                <a:solidFill>
                  <a:srgbClr val="F7FAFF"/>
                </a:solidFill>
              </a:rPr>
              <a:t>动作不可控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1986E-BFFF-482B-803C-C97ACE66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671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9C9"/>
                </a:solidFill>
              </a:defRPr>
            </a:pPr>
            <a:r>
              <a:rPr sz="1350" b="0">
                <a:solidFill>
                  <a:srgbClr val="94A9C9"/>
                </a:solidFill>
              </a:rPr>
              <a:t>任务、日历、通知一旦越权或重复执行，代价落到真实组织。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66D3F-E57A-45BE-8A77-5EAF4E79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336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D9C7"/>
                </a:solidFill>
              </a:defRPr>
            </a:pPr>
            <a:r>
              <a:rPr sz="2100" b="1">
                <a:solidFill>
                  <a:srgbClr val="00D9C7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4EB2DA-CE2F-4BDC-A1E5-19944BEA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C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A8A89-9FDA-4AF6-9C60-82CF192F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146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7FAFF"/>
                </a:solidFill>
              </a:defRPr>
            </a:pPr>
            <a:r>
              <a:rPr sz="1875" b="1">
                <a:solidFill>
                  <a:srgbClr val="F7FAFF"/>
                </a:solidFill>
              </a:rPr>
              <a:t>结果不可证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7C26B-B95F-441C-A9E2-2E703C4E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6710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9C9"/>
                </a:solidFill>
              </a:defRPr>
            </a:pPr>
            <a:r>
              <a:rPr sz="1350" b="0">
                <a:solidFill>
                  <a:srgbClr val="94A9C9"/>
                </a:solidFill>
              </a:rPr>
              <a:t>只有最终文本，没有审批、回执与失败位置，无法复盘。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935EA-560C-40F9-BB16-250E85EF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896600" cy="876300"/>
          </a:xfrm>
          <a:prstGeom xmlns:a="http://schemas.openxmlformats.org/drawingml/2006/main" prst="roundRect">
            <a:avLst>
              <a:gd name="adj" fmla="val 13043"/>
            </a:avLst>
          </a:prstGeom>
          <a:gradFill xmlns:a="http://schemas.openxmlformats.org/drawingml/2006/main">
            <a:gsLst>
              <a:gs pos="0">
                <a:srgbClr val="245CFF">
                  <a:alpha val="26000"/>
                </a:srgbClr>
              </a:gs>
              <a:gs pos="100000">
                <a:srgbClr val="00D9C7">
                  <a:alpha val="12000"/>
                </a:srgbClr>
              </a:gs>
            </a:gsLst>
            <a:lin ang="5400000"/>
          </a:gradFill>
          <a:ln xmlns:a="http://schemas.openxmlformats.org/drawingml/2006/main" w="9525">
            <a:solidFill>
              <a:srgbClr val="31518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B1BB2-AC84-459C-8BFB-83E808CF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7FAFF"/>
                </a:solidFill>
              </a:defRPr>
            </a:pPr>
            <a:r>
              <a:rPr sz="1875" b="1">
                <a:solidFill>
                  <a:srgbClr val="F7FAFF"/>
                </a:solidFill>
              </a:rPr>
              <a:t>需要的不是更长的 Prompt，而是一条能阻断、审批、补偿并留下证据的执行链。</a:t>
            </a:r>
          </a:p>
        </p:txBody>
      </p:sp>
    </p:spTree>
    <p:extLst>
      <p:ext uri="{BB962C8B-B14F-4D97-AF65-F5344CB8AC3E}">
        <p14:creationId xmlns:p14="http://schemas.microsoft.com/office/powerpoint/2010/main" val="1320521681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22D"/>
            </a:gs>
            <a:gs pos="58000">
              <a:srgbClr val="0B1640"/>
            </a:gs>
            <a:gs pos="100000">
              <a:srgbClr val="10245A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AAFA7-BF48-4828-ADA8-FEC1A1CD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45CFF">
                  <a:alpha val="30000"/>
                </a:srgbClr>
              </a:gs>
              <a:gs pos="72000">
                <a:srgbClr val="24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7A59B-5748-47EF-98AA-3221B7D2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714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0D9C7">
                  <a:alpha val="12000"/>
                </a:srgbClr>
              </a:gs>
              <a:gs pos="72000">
                <a:srgbClr val="00D9C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0922BAB-E28F-4CEF-81D6-0852F8AB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D9C7"/>
                </a:solidFill>
              </a:defRPr>
            </a:pPr>
            <a:r>
              <a:rPr sz="975" b="1">
                <a:solidFill>
                  <a:srgbClr val="00D9C7"/>
                </a:solidFill>
              </a:rPr>
              <a:t>GOAI · AGENT INFRA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DC1A8DF-8214-4382-8395-7D6BA262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3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9C9"/>
                </a:solidFill>
              </a:defRPr>
            </a:pPr>
            <a:r>
              <a:rPr sz="975" b="1">
                <a:solidFill>
                  <a:srgbClr val="94A9C9"/>
                </a:solidFill>
              </a:rPr>
              <a:t>03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B85FFE-CF06-4709-A48F-DFF6DE5A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AFF"/>
                </a:solidFill>
              </a:defRPr>
            </a:pPr>
            <a:r>
              <a:rPr sz="2850" b="1">
                <a:solidFill>
                  <a:srgbClr val="F7FAFF"/>
                </a:solidFill>
              </a:rPr>
              <a:t>把不确定性留给模型，把确定性留给系统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3D91A4D-1577-47C4-8108-DCD1E223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13525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9C9"/>
                </a:solidFill>
              </a:defRPr>
            </a:pPr>
            <a:r>
              <a:rPr sz="1350" b="0">
                <a:solidFill>
                  <a:srgbClr val="94A9C9"/>
                </a:solidFill>
              </a:rPr>
              <a:t>模型负责理解与表达；系统负责边界、状态和真实动作。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8AB82-4BDE-4F31-AD93-B95BB6B8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55000">
                <a:srgbClr val="00D9C7"/>
              </a:gs>
              <a:gs pos="100000">
                <a:srgbClr val="00D9C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31959-8BFD-4F9E-90C0-38B2ADD8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4953000" cy="3371850"/>
          </a:xfrm>
          <a:prstGeom xmlns:a="http://schemas.openxmlformats.org/drawingml/2006/main" prst="roundRect">
            <a:avLst>
              <a:gd name="adj" fmla="val 4520"/>
            </a:avLst>
          </a:prstGeom>
          <a:gradFill xmlns:a="http://schemas.openxmlformats.org/drawingml/2006/main">
            <a:gsLst>
              <a:gs pos="0">
                <a:srgbClr val="14265B"/>
              </a:gs>
              <a:gs pos="100000">
                <a:srgbClr val="101F49"/>
              </a:gs>
            </a:gsLst>
            <a:lin ang="8700000"/>
          </a:gradFill>
          <a:ln xmlns:a="http://schemas.openxmlformats.org/drawingml/2006/main" w="9525">
            <a:solidFill>
              <a:srgbClr val="245CFF">
                <a:alpha val="7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12224-BDAF-4AD6-A813-023BD861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A6FF"/>
                </a:solidFill>
              </a:defRPr>
            </a:pPr>
            <a:r>
              <a:rPr sz="2250" b="1">
                <a:solidFill>
                  <a:srgbClr val="00A6FF"/>
                </a:solidFill>
              </a:rPr>
              <a:t>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949F0-27C6-4080-9F57-DF7E8B84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7EFFF"/>
                </a:solidFill>
              </a:defRPr>
            </a:pPr>
            <a:r>
              <a:rPr sz="1725" b="0">
                <a:solidFill>
                  <a:srgbClr val="E7EFFF"/>
                </a:solidFill>
              </a:rPr>
              <a:t>理解会议语义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7EFFF"/>
                </a:solidFill>
              </a:defRPr>
            </a:pPr>
            <a:r>
              <a:rPr sz="1725" b="0">
                <a:solidFill>
                  <a:srgbClr val="E7EFFF"/>
                </a:solidFill>
              </a:rPr>
              <a:t>提取事实与行动项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7EFFF"/>
                </a:solidFill>
              </a:defRPr>
            </a:pPr>
            <a:r>
              <a:rPr sz="1725" b="0">
                <a:solidFill>
                  <a:srgbClr val="E7EFFF"/>
                </a:solidFill>
              </a:rPr>
              <a:t>在有限能力中做选择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7EFFF"/>
                </a:solidFill>
              </a:defRPr>
            </a:pPr>
            <a:r>
              <a:rPr sz="1725" b="0">
                <a:solidFill>
                  <a:srgbClr val="E7EFFF"/>
                </a:solidFill>
              </a:rPr>
              <a:t>生成面向人的表达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030A0-0CEB-40E8-B0D7-4880A225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76450"/>
            <a:ext cx="4953000" cy="3371850"/>
          </a:xfrm>
          <a:prstGeom xmlns:a="http://schemas.openxmlformats.org/drawingml/2006/main" prst="roundRect">
            <a:avLst>
              <a:gd name="adj" fmla="val 4520"/>
            </a:avLst>
          </a:prstGeom>
          <a:gradFill xmlns:a="http://schemas.openxmlformats.org/drawingml/2006/main">
            <a:gsLst>
              <a:gs pos="0">
                <a:srgbClr val="103852"/>
              </a:gs>
              <a:gs pos="100000">
                <a:srgbClr val="102A48"/>
              </a:gs>
            </a:gsLst>
            <a:lin ang="8700000"/>
          </a:gradFill>
          <a:ln xmlns:a="http://schemas.openxmlformats.org/drawingml/2006/main" w="9525">
            <a:solidFill>
              <a:srgbClr val="00D9C7">
                <a:alpha val="6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DD793-4E4E-45EA-B7E4-40C8CE1B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EF2C2"/>
                </a:solidFill>
              </a:defRPr>
            </a:pPr>
            <a:r>
              <a:rPr sz="2250" b="1">
                <a:solidFill>
                  <a:srgbClr val="5EF2C2"/>
                </a:solidFill>
              </a:rPr>
              <a:t>ECS 系统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822DB-A000-4672-B176-36B93EA7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0990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7EFFF"/>
                </a:solidFill>
              </a:defRPr>
            </a:pPr>
            <a:r>
              <a:rPr sz="1725" b="0">
                <a:solidFill>
                  <a:srgbClr val="E7EFFF"/>
                </a:solidFill>
              </a:rPr>
              <a:t>任务依赖与结构化交接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7EFFF"/>
                </a:solidFill>
              </a:defRPr>
            </a:pPr>
            <a:r>
              <a:rPr sz="1725" b="0">
                <a:solidFill>
                  <a:srgbClr val="E7EFFF"/>
                </a:solidFill>
              </a:rPr>
              <a:t>能力白名单与参数校验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7EFFF"/>
                </a:solidFill>
              </a:defRPr>
            </a:pPr>
            <a:r>
              <a:rPr sz="1725" b="0">
                <a:solidFill>
                  <a:srgbClr val="E7EFFF"/>
                </a:solidFill>
              </a:rPr>
              <a:t>人工审批、幂等与补偿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E7EFFF"/>
                </a:solidFill>
              </a:defRPr>
            </a:pPr>
            <a:r>
              <a:rPr sz="1725" b="0">
                <a:solidFill>
                  <a:srgbClr val="E7EFFF"/>
                </a:solidFill>
              </a:rPr>
              <a:t>Session、Trace 与执行证据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A4472-72B4-4232-BEFA-2AF85AB1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95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5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96212-67BD-4AC2-A167-8F0A97A9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47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7122D"/>
                </a:solidFill>
              </a:defRPr>
            </a:pPr>
            <a:r>
              <a:rPr sz="1875" b="1">
                <a:solidFill>
                  <a:srgbClr val="07122D"/>
                </a:solidFill>
              </a:rPr>
              <a:t>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380D1-6310-4D2A-BDFC-82DD1BD5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293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D85A"/>
                </a:solidFill>
              </a:defRPr>
            </a:pPr>
            <a:r>
              <a:rPr sz="1575" b="1">
                <a:solidFill>
                  <a:srgbClr val="FFD85A"/>
                </a:solidFill>
              </a:rPr>
              <a:t>语言理解属于模型；业务流程属于系统；高风险决定属于有责任的人。</a:t>
            </a:r>
          </a:p>
        </p:txBody>
      </p:sp>
    </p:spTree>
    <p:extLst>
      <p:ext uri="{BB962C8B-B14F-4D97-AF65-F5344CB8AC3E}">
        <p14:creationId xmlns:p14="http://schemas.microsoft.com/office/powerpoint/2010/main" val="1692075834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22D"/>
            </a:gs>
            <a:gs pos="58000">
              <a:srgbClr val="0B1640"/>
            </a:gs>
            <a:gs pos="100000">
              <a:srgbClr val="10245A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A6C086-2A73-46BD-9423-6884D385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45CFF">
                  <a:alpha val="30000"/>
                </a:srgbClr>
              </a:gs>
              <a:gs pos="72000">
                <a:srgbClr val="24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BDA73-BEA0-4EA2-A978-1B143627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714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0D9C7">
                  <a:alpha val="12000"/>
                </a:srgbClr>
              </a:gs>
              <a:gs pos="72000">
                <a:srgbClr val="00D9C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3B1AAAC-6807-4A36-A56F-E0BADAFD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D9C7"/>
                </a:solidFill>
              </a:defRPr>
            </a:pPr>
            <a:r>
              <a:rPr sz="975" b="1">
                <a:solidFill>
                  <a:srgbClr val="00D9C7"/>
                </a:solidFill>
              </a:rPr>
              <a:t>GOAI · AGENT INFRA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2BD3066-A756-49CA-9FF6-A4AB5B45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3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9C9"/>
                </a:solidFill>
              </a:defRPr>
            </a:pPr>
            <a:r>
              <a:rPr sz="975" b="1">
                <a:solidFill>
                  <a:srgbClr val="94A9C9"/>
                </a:solidFill>
              </a:rPr>
              <a:t>04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248D6C-38D5-44A4-85A5-EC0B38FD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AFF"/>
                </a:solidFill>
              </a:defRPr>
            </a:pPr>
            <a:r>
              <a:rPr sz="2850" b="1">
                <a:solidFill>
                  <a:srgbClr val="F7FAFF"/>
                </a:solidFill>
              </a:rPr>
              <a:t>四个 Agent 各有职责、输入与交付物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FF16CBA-3134-44CE-8F21-784C2E76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13525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9C9"/>
                </a:solidFill>
              </a:defRPr>
            </a:pPr>
            <a:r>
              <a:rPr sz="1350" b="0">
                <a:solidFill>
                  <a:srgbClr val="94A9C9"/>
                </a:solidFill>
              </a:rPr>
              <a:t>身份、输入、产物和交接都可被结构化描述。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BEC9F-F3A0-411E-BAFE-7A1455BB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55000">
                <a:srgbClr val="00D9C7"/>
              </a:gs>
              <a:gs pos="100000">
                <a:srgbClr val="00D9C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agent-1">
            <a:extLst xmlns:a="http://schemas.openxmlformats.org/drawingml/2006/main">
              <a:ext uri="{FF2B5EF4-FFF2-40B4-BE49-F238E27FC236}">
                <a16:creationId xmlns:a16="http://schemas.microsoft.com/office/drawing/2014/main" id="{A4B65293-C236-456F-8155-DE0D7E42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400300" cy="2876550"/>
          </a:xfrm>
          <a:prstGeom xmlns:a="http://schemas.openxmlformats.org/drawingml/2006/main" prst="roundRect">
            <a:avLst>
              <a:gd name="adj" fmla="val 6349"/>
            </a:avLst>
          </a:prstGeom>
          <a:gradFill xmlns:a="http://schemas.openxmlformats.org/drawingml/2006/main">
            <a:gsLst>
              <a:gs pos="0">
                <a:srgbClr val="14265B"/>
              </a:gs>
              <a:gs pos="100000">
                <a:srgbClr val="101F49"/>
              </a:gs>
            </a:gsLst>
            <a:lin ang="9600000"/>
          </a:gradFill>
          <a:ln xmlns:a="http://schemas.openxmlformats.org/drawingml/2006/main" w="9525">
            <a:solidFill>
              <a:srgbClr val="245CFF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BB29D-FC01-40C7-B6B6-166BB82F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CC6B0-B677-4ECB-A3D8-D46F4E0C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22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22D"/>
                </a:solidFill>
              </a:defRPr>
            </a:pPr>
            <a:r>
              <a:rPr sz="1275" b="1">
                <a:solidFill>
                  <a:srgbClr val="07122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6A221-A1C4-4597-B9B3-582F8D10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AFF"/>
                </a:solidFill>
              </a:defRPr>
            </a:pPr>
            <a:r>
              <a:rPr sz="1950" b="1">
                <a:solidFill>
                  <a:srgbClr val="F7FAFF"/>
                </a:solidFill>
              </a:rPr>
              <a:t>规划员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57E00-C0CB-4D5C-958D-26C04D6A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5CFF"/>
                </a:solidFill>
              </a:defRPr>
            </a:pPr>
            <a:r>
              <a:rPr sz="975" b="1">
                <a:solidFill>
                  <a:srgbClr val="245CFF"/>
                </a:solidFill>
              </a:rPr>
              <a:t>meeting_planner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FBCF6-6229-47F3-9C7F-33AA246F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94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4A9C9"/>
                </a:solidFill>
              </a:defRPr>
            </a:pPr>
            <a:r>
              <a:rPr sz="1200" b="0">
                <a:solidFill>
                  <a:srgbClr val="94A9C9"/>
                </a:solidFill>
              </a:rPr>
              <a:t>明确会议类型、参与人和交付范围</a:t>
            </a:r>
          </a:p>
        </p:txBody>
      </p:sp>
      <p:sp>
        <p:nvSpPr>
          <p:cNvPr id="14" name="agent-2">
            <a:extLst xmlns:a="http://schemas.openxmlformats.org/drawingml/2006/main">
              <a:ext uri="{FF2B5EF4-FFF2-40B4-BE49-F238E27FC236}">
                <a16:creationId xmlns:a16="http://schemas.microsoft.com/office/drawing/2014/main" id="{E34B02CA-6707-480F-B43C-F7FFC21F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66950"/>
            <a:ext cx="2400300" cy="2876550"/>
          </a:xfrm>
          <a:prstGeom xmlns:a="http://schemas.openxmlformats.org/drawingml/2006/main" prst="roundRect">
            <a:avLst>
              <a:gd name="adj" fmla="val 6349"/>
            </a:avLst>
          </a:prstGeom>
          <a:gradFill xmlns:a="http://schemas.openxmlformats.org/drawingml/2006/main">
            <a:gsLst>
              <a:gs pos="0">
                <a:srgbClr val="14265B"/>
              </a:gs>
              <a:gs pos="100000">
                <a:srgbClr val="101F49"/>
              </a:gs>
            </a:gsLst>
            <a:lin ang="9600000"/>
          </a:gradFill>
          <a:ln xmlns:a="http://schemas.openxmlformats.org/drawingml/2006/main" w="9525">
            <a:solidFill>
              <a:srgbClr val="00A6FF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1FB71-64ED-4766-BC87-65507705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95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771D8-5B24-4571-AFD1-E306883A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622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22D"/>
                </a:solidFill>
              </a:defRPr>
            </a:pPr>
            <a:r>
              <a:rPr sz="1275" b="1">
                <a:solidFill>
                  <a:srgbClr val="07122D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ECF89-573D-4DF3-B8CA-E0D60694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242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AFF"/>
                </a:solidFill>
              </a:defRPr>
            </a:pPr>
            <a:r>
              <a:rPr sz="1950" b="1">
                <a:solidFill>
                  <a:srgbClr val="F7FAFF"/>
                </a:solidFill>
              </a:rPr>
              <a:t>纪要员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987A1-DF6E-468B-B4DD-10AD65BC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623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A6FF"/>
                </a:solidFill>
              </a:defRPr>
            </a:pPr>
            <a:r>
              <a:rPr sz="975" b="1">
                <a:solidFill>
                  <a:srgbClr val="00A6FF"/>
                </a:solidFill>
              </a:rPr>
              <a:t>minutes_clerk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F0B94A-37F5-4761-8793-C5C13412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57650"/>
            <a:ext cx="194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4A9C9"/>
                </a:solidFill>
              </a:defRPr>
            </a:pPr>
            <a:r>
              <a:rPr sz="1200" b="0">
                <a:solidFill>
                  <a:srgbClr val="94A9C9"/>
                </a:solidFill>
              </a:rPr>
              <a:t>提取决策、行动项、日期和待确认项</a:t>
            </a:r>
          </a:p>
        </p:txBody>
      </p:sp>
      <p:sp>
        <p:nvSpPr>
          <p:cNvPr id="20" name="agent-3">
            <a:extLst xmlns:a="http://schemas.openxmlformats.org/drawingml/2006/main">
              <a:ext uri="{FF2B5EF4-FFF2-40B4-BE49-F238E27FC236}">
                <a16:creationId xmlns:a16="http://schemas.microsoft.com/office/drawing/2014/main" id="{E280C2F0-852C-4BCD-956A-6BC244AA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2400300" cy="2876550"/>
          </a:xfrm>
          <a:prstGeom xmlns:a="http://schemas.openxmlformats.org/drawingml/2006/main" prst="roundRect">
            <a:avLst>
              <a:gd name="adj" fmla="val 6349"/>
            </a:avLst>
          </a:prstGeom>
          <a:gradFill xmlns:a="http://schemas.openxmlformats.org/drawingml/2006/main">
            <a:gsLst>
              <a:gs pos="0">
                <a:srgbClr val="14265B"/>
              </a:gs>
              <a:gs pos="100000">
                <a:srgbClr val="101F49"/>
              </a:gs>
            </a:gsLst>
            <a:lin ang="9600000"/>
          </a:gradFill>
          <a:ln xmlns:a="http://schemas.openxmlformats.org/drawingml/2006/main" w="9525">
            <a:solidFill>
              <a:srgbClr val="00D9C7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8BFE35-A961-45DF-B599-3CDC5CE5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95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9C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008FF-985A-45FC-A342-70D3B78B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622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22D"/>
                </a:solidFill>
              </a:defRPr>
            </a:pPr>
            <a:r>
              <a:rPr sz="1275" b="1">
                <a:solidFill>
                  <a:srgbClr val="07122D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9CFD85-1BBD-468F-AE44-77EA80DA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242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AFF"/>
                </a:solidFill>
              </a:defRPr>
            </a:pPr>
            <a:r>
              <a:rPr sz="1950" b="1">
                <a:solidFill>
                  <a:srgbClr val="F7FAFF"/>
                </a:solidFill>
              </a:rPr>
              <a:t>核验员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C5C490-423B-4ACF-B80A-B7CAFB01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623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D9C7"/>
                </a:solidFill>
              </a:defRPr>
            </a:pPr>
            <a:r>
              <a:rPr sz="975" b="1">
                <a:solidFill>
                  <a:srgbClr val="00D9C7"/>
                </a:solidFill>
              </a:rPr>
              <a:t>decision_reviewer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E14A70-A461-4685-852E-55D87F7E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57650"/>
            <a:ext cx="194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4A9C9"/>
                </a:solidFill>
              </a:defRPr>
            </a:pPr>
            <a:r>
              <a:rPr sz="1200" b="0">
                <a:solidFill>
                  <a:srgbClr val="94A9C9"/>
                </a:solidFill>
              </a:rPr>
              <a:t>逐项回查责任人、期限与原文依据</a:t>
            </a:r>
          </a:p>
        </p:txBody>
      </p:sp>
      <p:sp>
        <p:nvSpPr>
          <p:cNvPr id="26" name="agent-4">
            <a:extLst xmlns:a="http://schemas.openxmlformats.org/drawingml/2006/main">
              <a:ext uri="{FF2B5EF4-FFF2-40B4-BE49-F238E27FC236}">
                <a16:creationId xmlns:a16="http://schemas.microsoft.com/office/drawing/2014/main" id="{574DD0B8-9489-4F5E-AAC9-0FAFE36D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66950"/>
            <a:ext cx="2400300" cy="2876550"/>
          </a:xfrm>
          <a:prstGeom xmlns:a="http://schemas.openxmlformats.org/drawingml/2006/main" prst="roundRect">
            <a:avLst>
              <a:gd name="adj" fmla="val 6349"/>
            </a:avLst>
          </a:prstGeom>
          <a:gradFill xmlns:a="http://schemas.openxmlformats.org/drawingml/2006/main">
            <a:gsLst>
              <a:gs pos="0">
                <a:srgbClr val="14265B"/>
              </a:gs>
              <a:gs pos="100000">
                <a:srgbClr val="101F49"/>
              </a:gs>
            </a:gsLst>
            <a:lin ang="9600000"/>
          </a:gradFill>
          <a:ln xmlns:a="http://schemas.openxmlformats.org/drawingml/2006/main" w="9525">
            <a:solidFill>
              <a:srgbClr val="FFD85A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7C8740-0D90-4EB6-B098-34E33E72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95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C464E3-6133-475C-8A90-6CAC7819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622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22D"/>
                </a:solidFill>
              </a:defRPr>
            </a:pPr>
            <a:r>
              <a:rPr sz="1275" b="1">
                <a:solidFill>
                  <a:srgbClr val="07122D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DA89B9-0CF3-4E1C-98F1-6EBE015B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242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AFF"/>
                </a:solidFill>
              </a:defRPr>
            </a:pPr>
            <a:r>
              <a:rPr sz="1950" b="1">
                <a:solidFill>
                  <a:srgbClr val="F7FAFF"/>
                </a:solidFill>
              </a:rPr>
              <a:t>督办员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EBE2D6-3E00-4D09-BAC0-55ED948B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6235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D85A"/>
                </a:solidFill>
              </a:defRPr>
            </a:pPr>
            <a:r>
              <a:rPr sz="975" b="1">
                <a:solidFill>
                  <a:srgbClr val="FFD85A"/>
                </a:solidFill>
              </a:rPr>
              <a:t>followup_coordinator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B40361-697E-42ED-8DEF-EF4A6659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57650"/>
            <a:ext cx="194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4A9C9"/>
                </a:solidFill>
              </a:defRPr>
            </a:pPr>
            <a:r>
              <a:rPr sz="1200" b="0">
                <a:solidFill>
                  <a:srgbClr val="94A9C9"/>
                </a:solidFill>
              </a:rPr>
              <a:t>批准后创建任务、日历、通知并核验回执</a:t>
            </a:r>
          </a:p>
        </p:txBody>
      </p:sp>
      <p:cxnSp>
        <p:nvCxnSpPr>
          <p:cNvPr id="544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086100" y="37052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18D"/>
            </a:solidFill>
            <a:prstDash val="solid"/>
            <a:tailEnd type="arrow" w="sm" len="sm"/>
          </a:ln>
        </p:spPr>
      </p:cxnSp>
      <p:cxnSp>
        <p:nvCxnSpPr>
          <p:cNvPr id="545" name=""/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924550" y="37052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18D"/>
            </a:solidFill>
            <a:prstDash val="solid"/>
            <a:tailEnd type="arrow" w="sm" len="sm"/>
          </a:ln>
        </p:spPr>
      </p:cxnSp>
      <p:cxnSp>
        <p:nvCxnSpPr>
          <p:cNvPr id="546" name=""/>
          <p:cNvCxnSpPr>
            <a:stCxn xmlns:a="http://schemas.openxmlformats.org/drawingml/2006/main" id="20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763000" y="37052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18D"/>
            </a:solidFill>
            <a:prstDash val="solid"/>
            <a:tailEnd type="arrow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F2583B-B6ED-4EA9-BA7A-1D67BDFB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D9C7"/>
                </a:solidFill>
              </a:defRPr>
            </a:pPr>
            <a:r>
              <a:rPr sz="1350" b="1">
                <a:solidFill>
                  <a:srgbClr val="00D9C7"/>
                </a:solidFill>
              </a:rPr>
              <a:t>AgentTeams 负责编排与状态流转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67909D-3E43-4F4A-ACB7-566F2A39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0995" y="5581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EF2C2"/>
                </a:solidFill>
              </a:defRPr>
            </a:pPr>
            <a:r>
              <a:rPr sz="1350" b="1">
                <a:solidFill>
                  <a:srgbClr val="5EF2C2"/>
                </a:solidFill>
              </a:rPr>
              <a:t>ECS 约束每个角色真正能做什么</a:t>
            </a:r>
          </a:p>
        </p:txBody>
      </p:sp>
    </p:spTree>
    <p:extLst>
      <p:ext uri="{BB962C8B-B14F-4D97-AF65-F5344CB8AC3E}">
        <p14:creationId xmlns:p14="http://schemas.microsoft.com/office/powerpoint/2010/main" val="966548263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22D"/>
            </a:gs>
            <a:gs pos="58000">
              <a:srgbClr val="0B1640"/>
            </a:gs>
            <a:gs pos="100000">
              <a:srgbClr val="10245A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200CBB-5E1F-468A-BCB3-77F1B3BA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45CFF">
                  <a:alpha val="30000"/>
                </a:srgbClr>
              </a:gs>
              <a:gs pos="72000">
                <a:srgbClr val="24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5C722-6612-473E-B3D3-18838B77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714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0D9C7">
                  <a:alpha val="12000"/>
                </a:srgbClr>
              </a:gs>
              <a:gs pos="72000">
                <a:srgbClr val="00D9C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61810BE-0302-4452-8CDC-A839F112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D9C7"/>
                </a:solidFill>
              </a:defRPr>
            </a:pPr>
            <a:r>
              <a:rPr sz="975" b="1">
                <a:solidFill>
                  <a:srgbClr val="00D9C7"/>
                </a:solidFill>
              </a:rPr>
              <a:t>GOAI · AGENT INFRA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6635F29-C246-472B-8520-C5357886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3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9C9"/>
                </a:solidFill>
              </a:defRPr>
            </a:pPr>
            <a:r>
              <a:rPr sz="975" b="1">
                <a:solidFill>
                  <a:srgbClr val="94A9C9"/>
                </a:solidFill>
              </a:rPr>
              <a:t>05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F9AAC6-9DB8-4D19-8EF9-94E9677E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AFF"/>
                </a:solidFill>
              </a:defRPr>
            </a:pPr>
            <a:r>
              <a:rPr sz="2850" b="1">
                <a:solidFill>
                  <a:srgbClr val="F7FAFF"/>
                </a:solidFill>
              </a:rPr>
              <a:t>AgentTeams 负责编排，ECS 约束执行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2431DD5-8D5A-4CDE-BACB-585CE576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13525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9C9"/>
                </a:solidFill>
              </a:defRPr>
            </a:pPr>
            <a:r>
              <a:rPr sz="1350" b="0">
                <a:solidFill>
                  <a:srgbClr val="94A9C9"/>
                </a:solidFill>
              </a:rPr>
              <a:t>两层职责清晰，协作协议与执行证据通过 task_id / trace_id 贯通。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EF0A4-081A-4D19-806E-FBE653D0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55000">
                <a:srgbClr val="00D9C7"/>
              </a:gs>
              <a:gs pos="100000">
                <a:srgbClr val="00D9C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5FC50-58EA-4656-A66E-71B371E6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2103120"/>
            <a:ext cx="10972800" cy="1371600"/>
          </a:xfrm>
          <a:prstGeom xmlns:a="http://schemas.openxmlformats.org/drawingml/2006/main" prst="roundRect">
            <a:avLst>
              <a:gd name="adj" fmla="val 14286"/>
            </a:avLst>
          </a:prstGeom>
          <a:gradFill xmlns:a="http://schemas.openxmlformats.org/drawingml/2006/main">
            <a:gsLst>
              <a:gs pos="0">
                <a:srgbClr val="245CFF">
                  <a:alpha val="28000"/>
                </a:srgbClr>
              </a:gs>
              <a:gs pos="100000">
                <a:srgbClr val="00A6FF">
                  <a:alpha val="15000"/>
                </a:srgbClr>
              </a:gs>
            </a:gsLst>
            <a:lin ang="5400000"/>
          </a:gradFill>
          <a:ln xmlns:a="http://schemas.openxmlformats.org/drawingml/2006/main" w="9525">
            <a:solidFill>
              <a:srgbClr val="245CFF">
                <a:alpha val="7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0A882-00DF-40CE-997B-5B72ABD8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7071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AFF"/>
                </a:solidFill>
              </a:defRPr>
            </a:pPr>
            <a:r>
              <a:rPr sz="1950" b="1">
                <a:solidFill>
                  <a:srgbClr val="F7FAFF"/>
                </a:solidFill>
              </a:rPr>
              <a:t>AgentTeams · 协作层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A05D1-F14F-4AC7-A088-882127D7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695" y="2627071"/>
            <a:ext cx="6667804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D9C7"/>
                </a:solidFill>
              </a:defRPr>
            </a:pPr>
            <a:r>
              <a:rPr sz="1500" b="1">
                <a:solidFill>
                  <a:srgbClr val="00D9C7"/>
                </a:solidFill>
              </a:rPr>
              <a:t>角色编排 · 任务拆解 · 上下文传递 · 协同执行 · 状态追踪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8B272-A90B-4859-8989-20197B54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3749039"/>
            <a:ext cx="10972800" cy="2103120"/>
          </a:xfrm>
          <a:prstGeom xmlns:a="http://schemas.openxmlformats.org/drawingml/2006/main" prst="roundRect">
            <a:avLst>
              <a:gd name="adj" fmla="val 13333"/>
            </a:avLst>
          </a:prstGeom>
          <a:gradFill xmlns:a="http://schemas.openxmlformats.org/drawingml/2006/main">
            <a:gsLst>
              <a:gs pos="0">
                <a:srgbClr val="103852"/>
              </a:gs>
              <a:gs pos="100000">
                <a:srgbClr val="102A48"/>
              </a:gs>
            </a:gsLst>
            <a:lin ang="5400000"/>
          </a:gradFill>
          <a:ln xmlns:a="http://schemas.openxmlformats.org/drawingml/2006/main" w="9525">
            <a:solidFill>
              <a:srgbClr val="00D9C7">
                <a:alpha val="7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73C91-6D6C-4D39-A82C-2833AA66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38751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7FAFF"/>
                </a:solidFill>
              </a:defRPr>
            </a:pPr>
            <a:r>
              <a:rPr sz="1950" b="1">
                <a:solidFill>
                  <a:srgbClr val="F7FAFF"/>
                </a:solidFill>
              </a:rPr>
              <a:t>ECS · 可信执行层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59142-F4FB-43E7-9795-36393913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695" y="4306824"/>
            <a:ext cx="6667804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EF2C2"/>
                </a:solidFill>
              </a:defRPr>
            </a:pPr>
            <a:r>
              <a:rPr sz="1500" b="1">
                <a:solidFill>
                  <a:srgbClr val="5EF2C2"/>
                </a:solidFill>
              </a:rPr>
              <a:t>角色编排 → Stage　·　任务拆解 → Skill
上下文传递 → 签名 office_grant
协同执行 → Stage→Skill→Connector　·　状态追踪 → Trace</a:t>
            </a:r>
          </a:p>
        </p:txBody>
      </p:sp>
    </p:spTree>
    <p:extLst>
      <p:ext uri="{BB962C8B-B14F-4D97-AF65-F5344CB8AC3E}">
        <p14:creationId xmlns:p14="http://schemas.microsoft.com/office/powerpoint/2010/main" val="1533776139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22D"/>
            </a:gs>
            <a:gs pos="58000">
              <a:srgbClr val="0B1640"/>
            </a:gs>
            <a:gs pos="100000">
              <a:srgbClr val="10245A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7C64F0-0BC3-48BE-8805-9A205D3A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45CFF">
                  <a:alpha val="30000"/>
                </a:srgbClr>
              </a:gs>
              <a:gs pos="72000">
                <a:srgbClr val="24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8520E-7E88-4DC8-AA91-C46BED66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714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0D9C7">
                  <a:alpha val="12000"/>
                </a:srgbClr>
              </a:gs>
              <a:gs pos="72000">
                <a:srgbClr val="00D9C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CF170F7-4A94-480A-A718-8E976E82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D9C7"/>
                </a:solidFill>
              </a:defRPr>
            </a:pPr>
            <a:r>
              <a:rPr sz="975" b="1">
                <a:solidFill>
                  <a:srgbClr val="00D9C7"/>
                </a:solidFill>
              </a:rPr>
              <a:t>GOAI · AGENT INFRA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EF0BD6A-09B2-4B6C-8785-96A1616F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3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9C9"/>
                </a:solidFill>
              </a:defRPr>
            </a:pPr>
            <a:r>
              <a:rPr sz="975" b="1">
                <a:solidFill>
                  <a:srgbClr val="94A9C9"/>
                </a:solidFill>
              </a:rPr>
              <a:t>06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8F7490-3316-4FF3-B308-A3461699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AFF"/>
                </a:solidFill>
              </a:defRPr>
            </a:pPr>
            <a:r>
              <a:rPr sz="2850" b="1">
                <a:solidFill>
                  <a:srgbClr val="F7FAFF"/>
                </a:solidFill>
              </a:rPr>
              <a:t>一条会议输入，经过八个可检查环节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5E98E6F-0455-4B67-A3C9-54550E8A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13525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9C9"/>
                </a:solidFill>
              </a:defRPr>
            </a:pPr>
            <a:r>
              <a:rPr sz="1350" b="0">
                <a:solidFill>
                  <a:srgbClr val="94A9C9"/>
                </a:solidFill>
              </a:rPr>
              <a:t>信息不足、审批拒绝或结果未知，都必须显式停在对应状态。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E902A-9C77-467C-88D6-74DE60E8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55000">
                <a:srgbClr val="00D9C7"/>
              </a:gs>
              <a:gs pos="100000">
                <a:srgbClr val="00D9C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tep-1">
            <a:extLst xmlns:a="http://schemas.openxmlformats.org/drawingml/2006/main">
              <a:ext uri="{FF2B5EF4-FFF2-40B4-BE49-F238E27FC236}">
                <a16:creationId xmlns:a16="http://schemas.microsoft.com/office/drawing/2014/main" id="{B587AD2F-341A-4371-9B1E-E8629824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F49"/>
          </a:solidFill>
          <a:ln xmlns:a="http://schemas.openxmlformats.org/drawingml/2006/main" w="9525">
            <a:solidFill>
              <a:srgbClr val="245CFF">
                <a:alpha val="6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46654-4A6F-4D32-9719-BAA37B09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45CFF"/>
                </a:solidFill>
              </a:defRPr>
            </a:pPr>
            <a:r>
              <a:rPr sz="1125" b="1">
                <a:solidFill>
                  <a:srgbClr val="245C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B20CE-9634-4E02-A2AE-4B36518C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F"/>
                </a:solidFill>
              </a:defRPr>
            </a:pPr>
            <a:r>
              <a:rPr sz="1575" b="1">
                <a:solidFill>
                  <a:srgbClr val="F7FAFF"/>
                </a:solidFill>
              </a:rPr>
              <a:t>会议输入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D4183D43-5517-41F8-B7B2-697F6498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0980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F49"/>
          </a:solidFill>
          <a:ln xmlns:a="http://schemas.openxmlformats.org/drawingml/2006/main" w="9525">
            <a:solidFill>
              <a:srgbClr val="00A6FF">
                <a:alpha val="6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D3867-1E82-4CCA-AED7-0597232F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6FF"/>
                </a:solidFill>
              </a:defRPr>
            </a:pPr>
            <a:r>
              <a:rPr sz="1125" b="1">
                <a:solidFill>
                  <a:srgbClr val="00A6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C89B1-676E-4CCE-970D-A9F28929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F"/>
                </a:solidFill>
              </a:defRPr>
            </a:pPr>
            <a:r>
              <a:rPr sz="1575" b="1">
                <a:solidFill>
                  <a:srgbClr val="F7FAFF"/>
                </a:solidFill>
              </a:rPr>
              <a:t>事实提取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1A16F17D-55E5-40BC-A3F0-BCE82E0A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F49"/>
          </a:solidFill>
          <a:ln xmlns:a="http://schemas.openxmlformats.org/drawingml/2006/main" w="9525">
            <a:solidFill>
              <a:srgbClr val="00D9C7">
                <a:alpha val="6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7F360-EC60-4BC6-B172-B7261DFF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D9C7"/>
                </a:solidFill>
              </a:defRPr>
            </a:pPr>
            <a:r>
              <a:rPr sz="1125" b="1">
                <a:solidFill>
                  <a:srgbClr val="00D9C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5F2F2-9E73-45D6-9659-64C9E45D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F"/>
                </a:solidFill>
              </a:defRPr>
            </a:pPr>
            <a:r>
              <a:rPr sz="1575" b="1">
                <a:solidFill>
                  <a:srgbClr val="F7FAFF"/>
                </a:solidFill>
              </a:rPr>
              <a:t>责任核验</a:t>
            </a:r>
          </a:p>
        </p:txBody>
      </p:sp>
      <p:sp>
        <p:nvSpPr>
          <p:cNvPr id="17" name="step-4">
            <a:extLst xmlns:a="http://schemas.openxmlformats.org/drawingml/2006/main">
              <a:ext uri="{FF2B5EF4-FFF2-40B4-BE49-F238E27FC236}">
                <a16:creationId xmlns:a16="http://schemas.microsoft.com/office/drawing/2014/main" id="{8BA717DA-7019-48BF-822F-6355A6CA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0980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F49"/>
          </a:solidFill>
          <a:ln xmlns:a="http://schemas.openxmlformats.org/drawingml/2006/main" w="9525">
            <a:solidFill>
              <a:srgbClr val="FFD85A">
                <a:alpha val="6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C57BD-4CF6-46FF-8A26-8C894FAC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D85A"/>
                </a:solidFill>
              </a:defRPr>
            </a:pPr>
            <a:r>
              <a:rPr sz="1125" b="1">
                <a:solidFill>
                  <a:srgbClr val="FFD85A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E2EA7-C625-4ECE-9E21-AAB1B065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432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F"/>
                </a:solidFill>
              </a:defRPr>
            </a:pPr>
            <a:r>
              <a:rPr sz="1575" b="1">
                <a:solidFill>
                  <a:srgbClr val="F7FAFF"/>
                </a:solidFill>
              </a:rPr>
              <a:t>人工批准</a:t>
            </a:r>
          </a:p>
        </p:txBody>
      </p:sp>
      <p:sp>
        <p:nvSpPr>
          <p:cNvPr id="20" name="step-5">
            <a:extLst xmlns:a="http://schemas.openxmlformats.org/drawingml/2006/main">
              <a:ext uri="{FF2B5EF4-FFF2-40B4-BE49-F238E27FC236}">
                <a16:creationId xmlns:a16="http://schemas.microsoft.com/office/drawing/2014/main" id="{A2141FD0-5E5E-40F0-8AE3-E0A13963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0530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F49"/>
          </a:solidFill>
          <a:ln xmlns:a="http://schemas.openxmlformats.org/drawingml/2006/main" w="9525">
            <a:solidFill>
              <a:srgbClr val="245CFF">
                <a:alpha val="6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66C4F7-FD8F-4FC7-8CD2-B5D95F54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76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45CFF"/>
                </a:solidFill>
              </a:defRPr>
            </a:pPr>
            <a:r>
              <a:rPr sz="1125" b="1">
                <a:solidFill>
                  <a:srgbClr val="245CFF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D1C442-058D-43EB-A548-5ABBCA03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387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F"/>
                </a:solidFill>
              </a:defRPr>
            </a:pPr>
            <a:r>
              <a:rPr sz="1575" b="1">
                <a:solidFill>
                  <a:srgbClr val="F7FAFF"/>
                </a:solidFill>
              </a:rPr>
              <a:t>动作执行</a:t>
            </a:r>
          </a:p>
        </p:txBody>
      </p:sp>
      <p:sp>
        <p:nvSpPr>
          <p:cNvPr id="23" name="step-6">
            <a:extLst xmlns:a="http://schemas.openxmlformats.org/drawingml/2006/main">
              <a:ext uri="{FF2B5EF4-FFF2-40B4-BE49-F238E27FC236}">
                <a16:creationId xmlns:a16="http://schemas.microsoft.com/office/drawing/2014/main" id="{CD6C87CE-F6A7-4B0D-A2B8-D35F6AC9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F49"/>
          </a:solidFill>
          <a:ln xmlns:a="http://schemas.openxmlformats.org/drawingml/2006/main" w="9525">
            <a:solidFill>
              <a:srgbClr val="5EF2C2">
                <a:alpha val="6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D4620-34E9-434A-A8ED-AAC22394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EF2C2"/>
                </a:solidFill>
              </a:defRPr>
            </a:pPr>
            <a:r>
              <a:rPr sz="1125" b="1">
                <a:solidFill>
                  <a:srgbClr val="5EF2C2"/>
                </a:solidFill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B70824-CD56-4DE8-BE19-359D4500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387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F"/>
                </a:solidFill>
              </a:defRPr>
            </a:pPr>
            <a:r>
              <a:rPr sz="1575" b="1">
                <a:solidFill>
                  <a:srgbClr val="F7FAFF"/>
                </a:solidFill>
              </a:rPr>
              <a:t>回执验证</a:t>
            </a:r>
          </a:p>
        </p:txBody>
      </p:sp>
      <p:sp>
        <p:nvSpPr>
          <p:cNvPr id="26" name="step-7">
            <a:extLst xmlns:a="http://schemas.openxmlformats.org/drawingml/2006/main">
              <a:ext uri="{FF2B5EF4-FFF2-40B4-BE49-F238E27FC236}">
                <a16:creationId xmlns:a16="http://schemas.microsoft.com/office/drawing/2014/main" id="{11EB4623-EB1B-4583-87E6-DE1FE77E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0530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F49"/>
          </a:solidFill>
          <a:ln xmlns:a="http://schemas.openxmlformats.org/drawingml/2006/main" w="9525">
            <a:solidFill>
              <a:srgbClr val="FF6B87">
                <a:alpha val="6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6292F3-EB6D-46FF-A45A-EF39F793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6B87"/>
                </a:solidFill>
              </a:defRPr>
            </a:pPr>
            <a:r>
              <a:rPr sz="1125" b="1">
                <a:solidFill>
                  <a:srgbClr val="FF6B87"/>
                </a:solidFill>
              </a:rPr>
              <a:t>07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5C5511-5E7E-4A16-B258-D1A3BDA5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387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F"/>
                </a:solidFill>
              </a:defRPr>
            </a:pPr>
            <a:r>
              <a:rPr sz="1575" b="1">
                <a:solidFill>
                  <a:srgbClr val="F7FAFF"/>
                </a:solidFill>
              </a:rPr>
              <a:t>补偿 / 恢复</a:t>
            </a:r>
          </a:p>
        </p:txBody>
      </p:sp>
      <p:sp>
        <p:nvSpPr>
          <p:cNvPr id="29" name="step-8">
            <a:extLst xmlns:a="http://schemas.openxmlformats.org/drawingml/2006/main">
              <a:ext uri="{FF2B5EF4-FFF2-40B4-BE49-F238E27FC236}">
                <a16:creationId xmlns:a16="http://schemas.microsoft.com/office/drawing/2014/main" id="{415D0C9C-68C3-41C2-AF7E-CC1DE11F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23241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1F49"/>
          </a:solidFill>
          <a:ln xmlns:a="http://schemas.openxmlformats.org/drawingml/2006/main" w="9525">
            <a:solidFill>
              <a:srgbClr val="00D9C7">
                <a:alpha val="6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ABE118-C00A-4C13-9207-4CFC5732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76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D9C7"/>
                </a:solidFill>
              </a:defRPr>
            </a:pPr>
            <a:r>
              <a:rPr sz="1125" b="1">
                <a:solidFill>
                  <a:srgbClr val="00D9C7"/>
                </a:solidFill>
              </a:rPr>
              <a:t>08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C4837C-5CC8-4119-8D82-01B13D3A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F"/>
                </a:solidFill>
              </a:defRPr>
            </a:pPr>
            <a:r>
              <a:rPr sz="1575" b="1">
                <a:solidFill>
                  <a:srgbClr val="F7FAFF"/>
                </a:solidFill>
              </a:rPr>
              <a:t>证据归档</a:t>
            </a:r>
          </a:p>
        </p:txBody>
      </p:sp>
      <p:cxnSp>
        <p:nvCxnSpPr>
          <p:cNvPr id="604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124200" y="27432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18D"/>
            </a:solidFill>
            <a:prstDash val="solid"/>
            <a:tailEnd type="arrow" w="med" len="med"/>
          </a:ln>
        </p:spPr>
      </p:cxnSp>
      <p:cxnSp>
        <p:nvCxnSpPr>
          <p:cNvPr id="605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867400" y="27432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18D"/>
            </a:solidFill>
            <a:prstDash val="solid"/>
            <a:tailEnd type="arrow" w="med" len="med"/>
          </a:ln>
        </p:spPr>
      </p:cxnSp>
      <p:cxnSp>
        <p:nvCxnSpPr>
          <p:cNvPr id="606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10600" y="27432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18D"/>
            </a:solidFill>
            <a:prstDash val="solid"/>
            <a:tailEnd type="arrow" w="med" len="med"/>
          </a:ln>
        </p:spPr>
      </p:cxnSp>
      <p:cxnSp>
        <p:nvCxnSpPr>
          <p:cNvPr id="607" name=""/>
          <p:cNvCxnSpPr>
            <a:stCxn xmlns:a="http://schemas.openxmlformats.org/drawingml/2006/main" id="17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0191750" y="3276600"/>
            <a:ext cx="1257300" cy="10287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1518D"/>
            </a:solidFill>
            <a:prstDash val="solid"/>
            <a:tailEnd type="arrow" w="med" len="med"/>
          </a:ln>
        </p:spPr>
      </p:cxnSp>
      <p:cxnSp>
        <p:nvCxnSpPr>
          <p:cNvPr id="608" name=""/>
          <p:cNvCxnSpPr>
            <a:stCxn xmlns:a="http://schemas.openxmlformats.org/drawingml/2006/main" id="20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8610600" y="48387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18D"/>
            </a:solidFill>
            <a:prstDash val="solid"/>
            <a:tailEnd type="arrow" w="med" len="med"/>
          </a:ln>
        </p:spPr>
      </p:cxnSp>
      <p:cxnSp>
        <p:nvCxnSpPr>
          <p:cNvPr id="609" name=""/>
          <p:cNvCxnSpPr>
            <a:stCxn xmlns:a="http://schemas.openxmlformats.org/drawingml/2006/main" id="23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5867400" y="48387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18D"/>
            </a:solidFill>
            <a:prstDash val="solid"/>
            <a:tailEnd type="arrow" w="med" len="med"/>
          </a:ln>
        </p:spPr>
      </p:cxnSp>
      <p:cxnSp>
        <p:nvCxnSpPr>
          <p:cNvPr id="610" name=""/>
          <p:cNvCxnSpPr>
            <a:stCxn xmlns:a="http://schemas.openxmlformats.org/drawingml/2006/main" id="26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3124200" y="48387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18D"/>
            </a:solidFill>
            <a:prstDash val="solid"/>
            <a:tailEnd type="arrow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B9D160-6A0E-427A-A8BE-E2D5395C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328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B87"/>
                </a:solidFill>
              </a:defRPr>
            </a:pPr>
            <a:r>
              <a:rPr sz="1275" b="1">
                <a:solidFill>
                  <a:srgbClr val="FF6B87"/>
                </a:solidFill>
              </a:rPr>
              <a:t>缺责任人 / 期限 → HOLD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C1691E-968A-4EA1-ACB4-557AF4AD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94760"/>
            <a:ext cx="255300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FFD85A"/>
                </a:solidFill>
              </a:defRPr>
            </a:pPr>
            <a:r>
              <a:rPr sz="1275" b="1">
                <a:solidFill>
                  <a:srgbClr val="FFD85A"/>
                </a:solidFill>
              </a:rPr>
              <a:t>高风险动作 → WAIT FOR APPROVAL</a:t>
            </a:r>
          </a:p>
        </p:txBody>
      </p:sp>
    </p:spTree>
    <p:extLst>
      <p:ext uri="{BB962C8B-B14F-4D97-AF65-F5344CB8AC3E}">
        <p14:creationId xmlns:p14="http://schemas.microsoft.com/office/powerpoint/2010/main" val="753130907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22D"/>
            </a:gs>
            <a:gs pos="58000">
              <a:srgbClr val="0B1640"/>
            </a:gs>
            <a:gs pos="100000">
              <a:srgbClr val="10245A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638635-9811-4411-848B-4649BDAB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45CFF">
                  <a:alpha val="30000"/>
                </a:srgbClr>
              </a:gs>
              <a:gs pos="72000">
                <a:srgbClr val="24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E2CA5-B33D-47C1-AEE9-3105553F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714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0D9C7">
                  <a:alpha val="12000"/>
                </a:srgbClr>
              </a:gs>
              <a:gs pos="72000">
                <a:srgbClr val="00D9C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FD1889C-FCA5-4D25-8BCD-B9E03200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D9C7"/>
                </a:solidFill>
              </a:defRPr>
            </a:pPr>
            <a:r>
              <a:rPr sz="975" b="1">
                <a:solidFill>
                  <a:srgbClr val="00D9C7"/>
                </a:solidFill>
              </a:rPr>
              <a:t>GOAI · AGENT INFRA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0D4BFD7-A49B-4DAB-945C-5AD6B16C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3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9C9"/>
                </a:solidFill>
              </a:defRPr>
            </a:pPr>
            <a:r>
              <a:rPr sz="975" b="1">
                <a:solidFill>
                  <a:srgbClr val="94A9C9"/>
                </a:solidFill>
              </a:rPr>
              <a:t>07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69622B-1852-4E8A-B559-22A5FB8C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AFF"/>
                </a:solidFill>
              </a:defRPr>
            </a:pPr>
            <a:r>
              <a:rPr sz="2850" b="1">
                <a:solidFill>
                  <a:srgbClr val="F7FAFF"/>
                </a:solidFill>
              </a:rPr>
              <a:t>五个闭环 Skill 承接会议督办全流程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1C6886F-385A-45BE-B5AC-EC920967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13525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9C9"/>
                </a:solidFill>
              </a:defRPr>
            </a:pPr>
            <a:r>
              <a:rPr sz="1350" b="0">
                <a:solidFill>
                  <a:srgbClr val="94A9C9"/>
                </a:solidFill>
              </a:rPr>
              <a:t>Skill 不是角色台词，而是输入、输出、工具依赖与失败策略的稳定合同。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2934D-E697-48DE-BB5A-251AB1F2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55000">
                <a:srgbClr val="00D9C7"/>
              </a:gs>
              <a:gs pos="100000">
                <a:srgbClr val="00D9C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E7E81-9B51-4721-86D2-B7201F0A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1216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45CFF"/>
                </a:solidFill>
              </a:defRPr>
            </a:pPr>
            <a:r>
              <a:rPr sz="1100" b="1">
                <a:solidFill>
                  <a:srgbClr val="245C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EF099-0B35-4165-B1B0-7F1D310B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06624"/>
            <a:ext cx="9886950" cy="612648"/>
          </a:xfrm>
          <a:prstGeom xmlns:a="http://schemas.openxmlformats.org/drawingml/2006/main" prst="roundRect">
            <a:avLst>
              <a:gd name="adj" fmla="val 14634"/>
            </a:avLst>
          </a:prstGeom>
          <a:gradFill xmlns:a="http://schemas.openxmlformats.org/drawingml/2006/main">
            <a:gsLst>
              <a:gs pos="0">
                <a:srgbClr val="14265B"/>
              </a:gs>
              <a:gs pos="100000">
                <a:srgbClr val="101F49"/>
              </a:gs>
            </a:gsLst>
            <a:lin ang="5400000"/>
          </a:gradFill>
          <a:ln xmlns:a="http://schemas.openxmlformats.org/drawingml/2006/main" w="9525">
            <a:solidFill>
              <a:srgbClr val="245CFF">
                <a:alpha val="5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89396-B7C6-4F54-83EE-FA7DF716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7208"/>
            <a:ext cx="32385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45CFF"/>
                </a:solidFill>
              </a:defRPr>
            </a:pPr>
            <a:r>
              <a:rPr sz="1100" b="1">
                <a:solidFill>
                  <a:srgbClr val="245CFF"/>
                </a:solidFill>
              </a:rPr>
              <a:t>meeting.fact.extract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E1D451-D0F4-46B2-9DD4-784C800B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07208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7FAFF"/>
                </a:solidFill>
              </a:defRPr>
            </a:pPr>
            <a:r>
              <a:rPr sz="1250" b="1">
                <a:solidFill>
                  <a:srgbClr val="F7FAFF"/>
                </a:solidFill>
              </a:rPr>
              <a:t>会议事实提取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DE9BE-BE47-41E1-A3B4-721C437F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98064"/>
            <a:ext cx="36195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4A9C9"/>
                </a:solidFill>
              </a:defRPr>
            </a:pPr>
            <a:r>
              <a:rPr sz="1050" b="0">
                <a:solidFill>
                  <a:srgbClr val="94A9C9"/>
                </a:solidFill>
              </a:rPr>
              <a:t>原始材料 → 决策 / 行动项 / 待确认项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45CFC-8A4B-4B63-8661-B8B3B479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1024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A6FF"/>
                </a:solidFill>
              </a:defRPr>
            </a:pPr>
            <a:r>
              <a:rPr sz="1100" b="1">
                <a:solidFill>
                  <a:srgbClr val="00A6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C1CAA-AE97-4219-AFBB-63FF3749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56432"/>
            <a:ext cx="9886950" cy="612648"/>
          </a:xfrm>
          <a:prstGeom xmlns:a="http://schemas.openxmlformats.org/drawingml/2006/main" prst="roundRect">
            <a:avLst>
              <a:gd name="adj" fmla="val 14634"/>
            </a:avLst>
          </a:prstGeom>
          <a:gradFill xmlns:a="http://schemas.openxmlformats.org/drawingml/2006/main">
            <a:gsLst>
              <a:gs pos="0">
                <a:srgbClr val="14265B"/>
              </a:gs>
              <a:gs pos="100000">
                <a:srgbClr val="101F49"/>
              </a:gs>
            </a:gsLst>
            <a:lin ang="5400000"/>
          </a:gradFill>
          <a:ln xmlns:a="http://schemas.openxmlformats.org/drawingml/2006/main" w="9525">
            <a:solidFill>
              <a:srgbClr val="00A6FF">
                <a:alpha val="5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396CB-B467-44EA-A288-021DA2B3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57016"/>
            <a:ext cx="32385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A6FF"/>
                </a:solidFill>
              </a:defRPr>
            </a:pPr>
            <a:r>
              <a:rPr sz="1100" b="1">
                <a:solidFill>
                  <a:srgbClr val="00A6FF"/>
                </a:solidFill>
              </a:rPr>
              <a:t>meeting.evidence.verify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ED3C4-AD7D-4518-90A5-08FAA181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57016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7FAFF"/>
                </a:solidFill>
              </a:defRPr>
            </a:pPr>
            <a:r>
              <a:rPr sz="1250" b="1">
                <a:solidFill>
                  <a:srgbClr val="F7FAFF"/>
                </a:solidFill>
              </a:rPr>
              <a:t>证据核验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BE661-FC6A-442A-B797-9D8C67E2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7872"/>
            <a:ext cx="36195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4A9C9"/>
                </a:solidFill>
              </a:defRPr>
            </a:pPr>
            <a:r>
              <a:rPr sz="1050" b="0">
                <a:solidFill>
                  <a:srgbClr val="94A9C9"/>
                </a:solidFill>
              </a:rPr>
              <a:t>草稿 → 责任人 / 日期 / 原文依据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7D9064-3AFF-493F-92D8-AAD4DAA9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0831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D85A"/>
                </a:solidFill>
              </a:defRPr>
            </a:pPr>
            <a:r>
              <a:rPr sz="1100" b="1">
                <a:solidFill>
                  <a:srgbClr val="FFD85A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A7FC3-48D3-4920-95ED-6D762370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06240"/>
            <a:ext cx="9886950" cy="612648"/>
          </a:xfrm>
          <a:prstGeom xmlns:a="http://schemas.openxmlformats.org/drawingml/2006/main" prst="roundRect">
            <a:avLst>
              <a:gd name="adj" fmla="val 14634"/>
            </a:avLst>
          </a:prstGeom>
          <a:gradFill xmlns:a="http://schemas.openxmlformats.org/drawingml/2006/main">
            <a:gsLst>
              <a:gs pos="0">
                <a:srgbClr val="14265B"/>
              </a:gs>
              <a:gs pos="100000">
                <a:srgbClr val="101F49"/>
              </a:gs>
            </a:gsLst>
            <a:lin ang="5400000"/>
          </a:gradFill>
          <a:ln xmlns:a="http://schemas.openxmlformats.org/drawingml/2006/main" w="9525">
            <a:solidFill>
              <a:srgbClr val="FFD85A">
                <a:alpha val="5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65D41-E1E5-4B26-B8D0-01F9A0E1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6824"/>
            <a:ext cx="32385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D85A"/>
                </a:solidFill>
              </a:defRPr>
            </a:pPr>
            <a:r>
              <a:rPr sz="1100" b="1">
                <a:solidFill>
                  <a:srgbClr val="FFD85A"/>
                </a:solidFill>
              </a:rPr>
              <a:t>office.action.dispatch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EE8966-0506-4D81-81B6-87F6CA86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06824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7FAFF"/>
                </a:solidFill>
              </a:defRPr>
            </a:pPr>
            <a:r>
              <a:rPr sz="1250" b="1">
                <a:solidFill>
                  <a:srgbClr val="F7FAFF"/>
                </a:solidFill>
              </a:rPr>
              <a:t>办公动作派发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669D02-0DE2-42E5-9373-CAB83CFB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97679"/>
            <a:ext cx="36195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4A9C9"/>
                </a:solidFill>
              </a:defRPr>
            </a:pPr>
            <a:r>
              <a:rPr sz="1050" b="0">
                <a:solidFill>
                  <a:srgbClr val="94A9C9"/>
                </a:solidFill>
              </a:rPr>
              <a:t>核验结果 → 任务 / 日历 / 通知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7BA803-F034-49ED-9649-21E09A5B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064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D9C7"/>
                </a:solidFill>
              </a:defRPr>
            </a:pPr>
            <a:r>
              <a:rPr sz="1100" b="1">
                <a:solidFill>
                  <a:srgbClr val="00D9C7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054EC3-F450-4F08-9FDA-9BD85EAF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6048"/>
            <a:ext cx="9886950" cy="612648"/>
          </a:xfrm>
          <a:prstGeom xmlns:a="http://schemas.openxmlformats.org/drawingml/2006/main" prst="roundRect">
            <a:avLst>
              <a:gd name="adj" fmla="val 14634"/>
            </a:avLst>
          </a:prstGeom>
          <a:gradFill xmlns:a="http://schemas.openxmlformats.org/drawingml/2006/main">
            <a:gsLst>
              <a:gs pos="0">
                <a:srgbClr val="14265B"/>
              </a:gs>
              <a:gs pos="100000">
                <a:srgbClr val="101F49"/>
              </a:gs>
            </a:gsLst>
            <a:lin ang="5400000"/>
          </a:gradFill>
          <a:ln xmlns:a="http://schemas.openxmlformats.org/drawingml/2006/main" w="9525">
            <a:solidFill>
              <a:srgbClr val="00D9C7">
                <a:alpha val="5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59ADD6-06D4-470D-8232-11EDC3AD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56632"/>
            <a:ext cx="32385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D9C7"/>
                </a:solidFill>
              </a:defRPr>
            </a:pPr>
            <a:r>
              <a:rPr sz="1100" b="1">
                <a:solidFill>
                  <a:srgbClr val="00D9C7"/>
                </a:solidFill>
              </a:rPr>
              <a:t>execution.receipt.verify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CEA886-EA7B-4D2F-AAF5-39AC017B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56632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7FAFF"/>
                </a:solidFill>
              </a:defRPr>
            </a:pPr>
            <a:r>
              <a:rPr sz="1250" b="1">
                <a:solidFill>
                  <a:srgbClr val="F7FAFF"/>
                </a:solidFill>
              </a:rPr>
              <a:t>执行回执验证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9E1F13-7CAE-4402-A855-C592EBE6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47488"/>
            <a:ext cx="36195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4A9C9"/>
                </a:solidFill>
              </a:defRPr>
            </a:pPr>
            <a:r>
              <a:rPr sz="1050" b="0">
                <a:solidFill>
                  <a:srgbClr val="94A9C9"/>
                </a:solidFill>
              </a:rPr>
              <a:t>外部回执 → 完整性 / 幂等 / 成功判定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327674-9A66-4F32-AED7-F0FCCE4E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81700"/>
            <a:ext cx="666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45C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34E041-92E9-485B-A6DD-E35CA317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029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7FAFF"/>
                </a:solidFill>
              </a:defRPr>
            </a:pPr>
            <a:r>
              <a:rPr sz="1050" b="1">
                <a:solidFill>
                  <a:srgbClr val="F7FAFF"/>
                </a:solidFill>
              </a:rPr>
              <a:t>已通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F3B7DB-20A2-4A14-B8FF-2D10A8D9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019800"/>
            <a:ext cx="535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EF2C2"/>
                </a:solidFill>
              </a:defRPr>
            </a:pPr>
            <a:r>
              <a:rPr sz="1200" b="1">
                <a:solidFill>
                  <a:srgbClr val="5EF2C2"/>
                </a:solidFill>
              </a:rPr>
              <a:t>Connector 合同已稳定 · MCP adapter 仍需实现与验证</a:t>
            </a:r>
          </a:p>
        </p:txBody>
      </p:sp>
      <p:sp>
        <p:nvSpPr>
          <p:cNvPr id="32" name="scope-plan-32">
            <a:extLst xmlns:a="http://schemas.openxmlformats.org/drawingml/2006/main">
              <a:ext uri="{FF2B5EF4-FFF2-40B4-BE49-F238E27FC236}">
                <a16:creationId xmlns:a16="http://schemas.microsoft.com/office/drawing/2014/main" id="{C74E7E81-9B51-4721-86D2-B7201F0A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21408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45CFF"/>
                </a:solidFill>
              </a:defRPr>
            </a:pPr>
            <a:r>
              <a:rPr sz="1100" b="1">
                <a:solidFill>
                  <a:srgbClr val="245CFF"/>
                </a:solidFill>
              </a:rPr>
              <a:t>01</a:t>
            </a:r>
          </a:p>
        </p:txBody>
      </p:sp>
      <p:sp>
        <p:nvSpPr>
          <p:cNvPr id="33" name="scope-plan-33">
            <a:extLst xmlns:a="http://schemas.openxmlformats.org/drawingml/2006/main">
              <a:ext uri="{FF2B5EF4-FFF2-40B4-BE49-F238E27FC236}">
                <a16:creationId xmlns:a16="http://schemas.microsoft.com/office/drawing/2014/main" id="{EC7EF099-0B35-4165-B1B0-7F1D310B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56816"/>
            <a:ext cx="9886950" cy="612648"/>
          </a:xfrm>
          <a:prstGeom xmlns:a="http://schemas.openxmlformats.org/drawingml/2006/main" prst="roundRect">
            <a:avLst>
              <a:gd name="adj" fmla="val 14634"/>
            </a:avLst>
          </a:prstGeom>
          <a:gradFill xmlns:a="http://schemas.openxmlformats.org/drawingml/2006/main">
            <a:gsLst>
              <a:gs pos="0">
                <a:srgbClr val="14265B"/>
              </a:gs>
              <a:gs pos="100000">
                <a:srgbClr val="101F49"/>
              </a:gs>
            </a:gsLst>
            <a:lin ang="5400000"/>
          </a:gradFill>
          <a:ln xmlns:a="http://schemas.openxmlformats.org/drawingml/2006/main" w="9525">
            <a:solidFill>
              <a:srgbClr val="245CFF">
                <a:alpha val="5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scope-plan-34">
            <a:extLst xmlns:a="http://schemas.openxmlformats.org/drawingml/2006/main">
              <a:ext uri="{FF2B5EF4-FFF2-40B4-BE49-F238E27FC236}">
                <a16:creationId xmlns:a16="http://schemas.microsoft.com/office/drawing/2014/main" id="{AC189396-B7C6-4F54-83EE-FA7DF716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57400"/>
            <a:ext cx="32385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45CFF"/>
                </a:solidFill>
              </a:defRPr>
            </a:pPr>
            <a:r>
              <a:rPr sz="1100" b="1">
                <a:solidFill>
                  <a:srgbClr val="245CFF"/>
                </a:solidFill>
              </a:rPr>
              <a:t>meeting.scope.plan</a:t>
            </a:r>
          </a:p>
        </p:txBody>
      </p:sp>
      <p:sp>
        <p:nvSpPr>
          <p:cNvPr id="35" name="scope-plan-35">
            <a:extLst xmlns:a="http://schemas.openxmlformats.org/drawingml/2006/main">
              <a:ext uri="{FF2B5EF4-FFF2-40B4-BE49-F238E27FC236}">
                <a16:creationId xmlns:a16="http://schemas.microsoft.com/office/drawing/2014/main" id="{16E1D451-D0F4-46B2-9DD4-784C800B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574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7FAFF"/>
                </a:solidFill>
              </a:defRPr>
            </a:pPr>
            <a:r>
              <a:rPr sz="1250" b="1">
                <a:solidFill>
                  <a:srgbClr val="F7FAFF"/>
                </a:solidFill>
              </a:rPr>
              <a:t>范围规划</a:t>
            </a:r>
          </a:p>
        </p:txBody>
      </p:sp>
      <p:sp>
        <p:nvSpPr>
          <p:cNvPr id="36" name="scope-plan-36">
            <a:extLst xmlns:a="http://schemas.openxmlformats.org/drawingml/2006/main">
              <a:ext uri="{FF2B5EF4-FFF2-40B4-BE49-F238E27FC236}">
                <a16:creationId xmlns:a16="http://schemas.microsoft.com/office/drawing/2014/main" id="{3E7DE9BE-BE47-41E1-A3B4-721C437F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8256"/>
            <a:ext cx="36195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4A9C9"/>
                </a:solidFill>
              </a:defRPr>
            </a:pPr>
            <a:r>
              <a:rPr sz="1050" b="0">
                <a:solidFill>
                  <a:srgbClr val="94A9C9"/>
                </a:solidFill>
              </a:rPr>
              <a:t>标题 / 与会人 → scope_plan</a:t>
            </a:r>
          </a:p>
        </p:txBody>
      </p:sp>
    </p:spTree>
    <p:extLst>
      <p:ext uri="{BB962C8B-B14F-4D97-AF65-F5344CB8AC3E}">
        <p14:creationId xmlns:p14="http://schemas.microsoft.com/office/powerpoint/2010/main" val="1549983319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22D"/>
            </a:gs>
            <a:gs pos="58000">
              <a:srgbClr val="0B1640"/>
            </a:gs>
            <a:gs pos="100000">
              <a:srgbClr val="10245A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4E583C-DEB1-4668-8B74-CFB069AB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45CFF">
                  <a:alpha val="30000"/>
                </a:srgbClr>
              </a:gs>
              <a:gs pos="72000">
                <a:srgbClr val="24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D66AB-80D6-4E98-B1F4-243612FA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714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0D9C7">
                  <a:alpha val="12000"/>
                </a:srgbClr>
              </a:gs>
              <a:gs pos="72000">
                <a:srgbClr val="00D9C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EAC6A05-EE81-4C1F-8E3D-1E809032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D9C7"/>
                </a:solidFill>
              </a:defRPr>
            </a:pPr>
            <a:r>
              <a:rPr sz="975" b="1">
                <a:solidFill>
                  <a:srgbClr val="00D9C7"/>
                </a:solidFill>
              </a:rPr>
              <a:t>GOAI · AGENT INFRA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E611E7C-1AD5-44CC-AD22-230AD05F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3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9C9"/>
                </a:solidFill>
              </a:defRPr>
            </a:pPr>
            <a:r>
              <a:rPr sz="975" b="1">
                <a:solidFill>
                  <a:srgbClr val="94A9C9"/>
                </a:solidFill>
              </a:rPr>
              <a:t>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D77925-8D81-4D05-A203-AD01D804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AFF"/>
                </a:solidFill>
              </a:defRPr>
            </a:pPr>
            <a:r>
              <a:rPr sz="2850" b="1">
                <a:solidFill>
                  <a:srgbClr val="F7FAFF"/>
                </a:solidFill>
              </a:rPr>
              <a:t>可信来自可检查、可恢复的执行机制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F436590-4C21-482C-A4B7-D47857C5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13525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9C9"/>
                </a:solidFill>
              </a:defRPr>
            </a:pPr>
            <a:r>
              <a:rPr sz="1350" b="0">
                <a:solidFill>
                  <a:srgbClr val="94A9C9"/>
                </a:solidFill>
              </a:rPr>
              <a:t>批准前不执行；执行后有回执；结果未知时不伪装成功。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BEF14-51FF-43E3-8D68-FAF2EBB7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55000">
                <a:srgbClr val="00D9C7"/>
              </a:gs>
              <a:gs pos="100000">
                <a:srgbClr val="00D9C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approval">
            <a:extLst xmlns:a="http://schemas.openxmlformats.org/drawingml/2006/main">
              <a:ext uri="{FF2B5EF4-FFF2-40B4-BE49-F238E27FC236}">
                <a16:creationId xmlns:a16="http://schemas.microsoft.com/office/drawing/2014/main" id="{D204532A-823F-44F2-8685-B60DDAD1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1907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4265B"/>
          </a:solidFill>
          <a:ln xmlns:a="http://schemas.openxmlformats.org/drawingml/2006/main" w="9525">
            <a:solidFill>
              <a:srgbClr val="FFD85A">
                <a:alpha val="7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execution">
            <a:extLst xmlns:a="http://schemas.openxmlformats.org/drawingml/2006/main">
              <a:ext uri="{FF2B5EF4-FFF2-40B4-BE49-F238E27FC236}">
                <a16:creationId xmlns:a16="http://schemas.microsoft.com/office/drawing/2014/main" id="{C2F398F2-2383-4C03-B2E8-CB4DB99F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81300"/>
            <a:ext cx="21907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4265B"/>
          </a:solidFill>
          <a:ln xmlns:a="http://schemas.openxmlformats.org/drawingml/2006/main" w="9525">
            <a:solidFill>
              <a:srgbClr val="245CFF">
                <a:alpha val="7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receipt">
            <a:extLst xmlns:a="http://schemas.openxmlformats.org/drawingml/2006/main">
              <a:ext uri="{FF2B5EF4-FFF2-40B4-BE49-F238E27FC236}">
                <a16:creationId xmlns:a16="http://schemas.microsoft.com/office/drawing/2014/main" id="{719CE886-FAF1-4BA0-A5A6-5D342222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21907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4265B"/>
          </a:solidFill>
          <a:ln xmlns:a="http://schemas.openxmlformats.org/drawingml/2006/main" w="9525">
            <a:solidFill>
              <a:srgbClr val="00D9C7">
                <a:alpha val="7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result">
            <a:extLst xmlns:a="http://schemas.openxmlformats.org/drawingml/2006/main">
              <a:ext uri="{FF2B5EF4-FFF2-40B4-BE49-F238E27FC236}">
                <a16:creationId xmlns:a16="http://schemas.microsoft.com/office/drawing/2014/main" id="{573A8CF2-31E5-46C3-8F1E-069673B7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18859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4265B"/>
          </a:solidFill>
          <a:ln xmlns:a="http://schemas.openxmlformats.org/drawingml/2006/main" w="9525">
            <a:solidFill>
              <a:srgbClr val="5EF2C2">
                <a:alpha val="7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cxnSp>
        <p:nvCxnSpPr>
          <p:cNvPr id="38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33700" y="34575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18D"/>
            </a:solidFill>
            <a:prstDash val="solid"/>
            <a:tailEnd type="arrow" w="med" len="med"/>
          </a:ln>
        </p:spPr>
      </p:cxnSp>
      <p:cxnSp>
        <p:nvCxnSpPr>
          <p:cNvPr id="38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67400" y="34575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18D"/>
            </a:solidFill>
            <a:prstDash val="solid"/>
            <a:tailEnd type="arrow" w="med" len="med"/>
          </a:ln>
        </p:spPr>
      </p:cxnSp>
      <p:cxnSp>
        <p:nvCxnSpPr>
          <p:cNvPr id="390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801100" y="34575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18D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79C0A-80CA-43F2-A9E1-992787A1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D85A"/>
                </a:solidFill>
              </a:defRPr>
            </a:pPr>
            <a:r>
              <a:rPr sz="1725" b="1">
                <a:solidFill>
                  <a:srgbClr val="FFD85A"/>
                </a:solidFill>
              </a:rPr>
              <a:t>人工审批门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83EAF-69F7-45A6-A3E6-C9CE0D59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4A9C9"/>
                </a:solidFill>
              </a:defRPr>
            </a:pPr>
            <a:r>
              <a:rPr sz="1050" b="0">
                <a:solidFill>
                  <a:srgbClr val="94A9C9"/>
                </a:solidFill>
              </a:rPr>
              <a:t>approve / reject / expire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03FA1-C804-4466-9BCC-3AD78994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48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AFF"/>
                </a:solidFill>
              </a:defRPr>
            </a:pPr>
            <a:r>
              <a:rPr sz="1725" b="1">
                <a:solidFill>
                  <a:srgbClr val="F7FAFF"/>
                </a:solidFill>
              </a:rPr>
              <a:t>受控执行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84961-438F-47F2-A0F1-5A4DA627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24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4A9C9"/>
                </a:solidFill>
              </a:defRPr>
            </a:pPr>
            <a:r>
              <a:rPr sz="1050" b="0">
                <a:solidFill>
                  <a:srgbClr val="94A9C9"/>
                </a:solidFill>
              </a:rPr>
              <a:t>scope · schema · idempotency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EF19E-E64D-4216-95E9-E2E5AFC7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48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5EF2C2"/>
                </a:solidFill>
              </a:defRPr>
            </a:pPr>
            <a:r>
              <a:rPr sz="1725" b="1">
                <a:solidFill>
                  <a:srgbClr val="5EF2C2"/>
                </a:solidFill>
              </a:rPr>
              <a:t>持久化交付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A15BC-586D-43F0-8EEF-49CF81FA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242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4A9C9"/>
                </a:solidFill>
              </a:defRPr>
            </a:pPr>
            <a:r>
              <a:rPr sz="1050" b="0">
                <a:solidFill>
                  <a:srgbClr val="94A9C9"/>
                </a:solidFill>
              </a:rPr>
              <a:t>attempt · lease · outbox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2876D-4312-4CF9-A925-A6078A27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480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7FAFF"/>
                </a:solidFill>
              </a:defRPr>
            </a:pPr>
            <a:r>
              <a:rPr sz="1725" b="1">
                <a:solidFill>
                  <a:srgbClr val="F7FAFF"/>
                </a:solidFill>
              </a:rPr>
              <a:t>回执与恢复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25AB6E-8C0D-447B-B838-1AD5202F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242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4A9C9"/>
                </a:solidFill>
              </a:defRPr>
            </a:pPr>
            <a:r>
              <a:rPr sz="1050" b="0">
                <a:solidFill>
                  <a:srgbClr val="94A9C9"/>
                </a:solidFill>
              </a:rPr>
              <a:t>verified / recovery_required</a:t>
            </a:r>
          </a:p>
        </p:txBody>
      </p:sp>
      <p:sp>
        <p:nvSpPr>
          <p:cNvPr id="23" name="compensation">
            <a:extLst xmlns:a="http://schemas.openxmlformats.org/drawingml/2006/main">
              <a:ext uri="{FF2B5EF4-FFF2-40B4-BE49-F238E27FC236}">
                <a16:creationId xmlns:a16="http://schemas.microsoft.com/office/drawing/2014/main" id="{11CC34DE-79EF-403C-AFC5-1016338C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3048000" cy="704850"/>
          </a:xfrm>
          <a:prstGeom xmlns:a="http://schemas.openxmlformats.org/drawingml/2006/main" prst="roundRect">
            <a:avLst>
              <a:gd name="adj" fmla="val 16216"/>
            </a:avLst>
          </a:prstGeom>
          <a:gradFill xmlns:a="http://schemas.openxmlformats.org/drawingml/2006/main">
            <a:gsLst>
              <a:gs pos="0">
                <a:srgbClr val="5A1932"/>
              </a:gs>
              <a:gs pos="100000">
                <a:srgbClr val="351A3A"/>
              </a:gs>
            </a:gsLst>
            <a:lin ang="5400000"/>
          </a:gradFill>
          <a:ln xmlns:a="http://schemas.openxmlformats.org/drawingml/2006/main" w="9525">
            <a:solidFill>
              <a:srgbClr val="FF6B87">
                <a:alpha val="7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BB9C48-789C-46EF-B475-859157BB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53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AFF"/>
                </a:solidFill>
              </a:defRPr>
            </a:pPr>
            <a:r>
              <a:rPr sz="1350" b="1">
                <a:solidFill>
                  <a:srgbClr val="F7FAFF"/>
                </a:solidFill>
              </a:rPr>
              <a:t>确定失败 → 补偿；结果未知 → 幂等恢复</a:t>
            </a:r>
          </a:p>
        </p:txBody>
      </p:sp>
      <p:cxnSp>
        <p:nvCxnSpPr>
          <p:cNvPr id="401" name=""/>
          <p:cNvCxnSpPr>
            <a:stCxn xmlns:a="http://schemas.openxmlformats.org/drawingml/2006/main" id="10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6096000" y="4133850"/>
            <a:ext cx="1609725" cy="819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F6B87"/>
            </a:solidFill>
            <a:prstDash val="dash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8FF198-A715-45F1-B937-8C1B689A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981700"/>
            <a:ext cx="3695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D9C7"/>
                </a:solidFill>
              </a:defRPr>
            </a:pPr>
            <a:r>
              <a:rPr sz="1350" b="1">
                <a:solidFill>
                  <a:srgbClr val="00D9C7"/>
                </a:solidFill>
              </a:rPr>
              <a:t>每个机制都进入同一条 Trace</a:t>
            </a:r>
          </a:p>
        </p:txBody>
      </p:sp>
    </p:spTree>
    <p:extLst>
      <p:ext uri="{BB962C8B-B14F-4D97-AF65-F5344CB8AC3E}">
        <p14:creationId xmlns:p14="http://schemas.microsoft.com/office/powerpoint/2010/main" val="103644585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22D"/>
            </a:gs>
            <a:gs pos="58000">
              <a:srgbClr val="0B1640"/>
            </a:gs>
            <a:gs pos="100000">
              <a:srgbClr val="10245A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A919E-EAA7-4784-A224-55CB5415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45CFF">
                  <a:alpha val="30000"/>
                </a:srgbClr>
              </a:gs>
              <a:gs pos="72000">
                <a:srgbClr val="24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23F0E-8249-41EA-A5F4-EDFE8E5D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714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0D9C7">
                  <a:alpha val="12000"/>
                </a:srgbClr>
              </a:gs>
              <a:gs pos="72000">
                <a:srgbClr val="00D9C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3F2BC15-73BF-49C8-B184-D907BD36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D9C7"/>
                </a:solidFill>
              </a:defRPr>
            </a:pPr>
            <a:r>
              <a:rPr sz="975" b="1">
                <a:solidFill>
                  <a:srgbClr val="00D9C7"/>
                </a:solidFill>
              </a:rPr>
              <a:t>GOAI · AGENT INFRA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34B5596-9247-46BA-83F9-A87462EF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3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9C9"/>
                </a:solidFill>
              </a:defRPr>
            </a:pPr>
            <a:r>
              <a:rPr sz="975" b="1">
                <a:solidFill>
                  <a:srgbClr val="94A9C9"/>
                </a:solidFill>
              </a:rPr>
              <a:t>09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74FC9E-0F66-402D-B101-765C9ACB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AFF"/>
                </a:solidFill>
              </a:defRPr>
            </a:pPr>
            <a:r>
              <a:rPr sz="2850" b="1">
                <a:solidFill>
                  <a:srgbClr val="F7FAFF"/>
                </a:solidFill>
              </a:rPr>
              <a:t>同一场景，用成功与失败两条路径验证执行边界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8A33981-53F7-4CB9-9E4A-D1831A51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13525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9C9"/>
                </a:solidFill>
              </a:defRPr>
            </a:pPr>
            <a:r>
              <a:rPr sz="1350" b="0">
                <a:solidFill>
                  <a:srgbClr val="94A9C9"/>
                </a:solidFill>
              </a:rPr>
              <a:t>评委看到的不只是答案，而是每一步为什么发生、为什么停止。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EB8A8-465B-4C30-8F38-1B720EED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55000">
                <a:srgbClr val="00D9C7"/>
              </a:gs>
              <a:gs pos="100000">
                <a:srgbClr val="00D9C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AA1D6-E6B3-481C-B968-2A6EB940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EF2C2"/>
                </a:solidFill>
              </a:defRPr>
            </a:pPr>
            <a:r>
              <a:rPr sz="1875" b="1">
                <a:solidFill>
                  <a:srgbClr val="5EF2C2"/>
                </a:solidFill>
              </a:rPr>
              <a:t>成功路径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93C69-09AF-4748-9071-E39B23D7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6B87"/>
                </a:solidFill>
              </a:defRPr>
            </a:pPr>
            <a:r>
              <a:rPr sz="1875" b="1">
                <a:solidFill>
                  <a:srgbClr val="FF6B87"/>
                </a:solidFill>
              </a:rPr>
              <a:t>失败路径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765F6-F8E5-4F8F-83AC-3E4A4E78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991100" cy="2209800"/>
          </a:xfrm>
          <a:prstGeom xmlns:a="http://schemas.openxmlformats.org/drawingml/2006/main" prst="roundRect">
            <a:avLst>
              <a:gd name="adj" fmla="val 6897"/>
            </a:avLst>
          </a:prstGeom>
          <a:gradFill xmlns:a="http://schemas.openxmlformats.org/drawingml/2006/main">
            <a:gsLst>
              <a:gs pos="0">
                <a:srgbClr val="103852"/>
              </a:gs>
              <a:gs pos="100000">
                <a:srgbClr val="102A48"/>
              </a:gs>
            </a:gsLst>
            <a:lin ang="8700000"/>
          </a:gradFill>
          <a:ln xmlns:a="http://schemas.openxmlformats.org/drawingml/2006/main" w="9525">
            <a:solidFill>
              <a:srgbClr val="00D9C7">
                <a:alpha val="5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CE606-B5C1-4108-BB78-B9BD947A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4991100" cy="2209800"/>
          </a:xfrm>
          <a:prstGeom xmlns:a="http://schemas.openxmlformats.org/drawingml/2006/main" prst="roundRect">
            <a:avLst>
              <a:gd name="adj" fmla="val 6897"/>
            </a:avLst>
          </a:prstGeom>
          <a:gradFill xmlns:a="http://schemas.openxmlformats.org/drawingml/2006/main">
            <a:gsLst>
              <a:gs pos="0">
                <a:srgbClr val="351A3A"/>
              </a:gs>
              <a:gs pos="100000">
                <a:srgbClr val="221A40"/>
              </a:gs>
            </a:gsLst>
            <a:lin ang="8700000"/>
          </a:gradFill>
          <a:ln xmlns:a="http://schemas.openxmlformats.org/drawingml/2006/main" w="9525">
            <a:solidFill>
              <a:srgbClr val="FF6B87">
                <a:alpha val="55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7DE64-AC72-46F1-A55E-4F94C3D1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4210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E7EFFF"/>
                </a:solidFill>
              </a:defRPr>
            </a:pPr>
            <a:r>
              <a:rPr sz="1575" b="0">
                <a:solidFill>
                  <a:srgbClr val="E7EFFF"/>
                </a:solidFill>
              </a:rPr>
              <a:t>行动项完整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E7EFFF"/>
                </a:solidFill>
              </a:defRPr>
            </a:pPr>
            <a:r>
              <a:rPr sz="1575" b="0">
                <a:solidFill>
                  <a:srgbClr val="E7EFFF"/>
                </a:solidFill>
              </a:rPr>
              <a:t>→ 审批通过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E7EFFF"/>
                </a:solidFill>
              </a:defRPr>
            </a:pPr>
            <a:r>
              <a:rPr sz="1575" b="0">
                <a:solidFill>
                  <a:srgbClr val="E7EFFF"/>
                </a:solidFill>
              </a:rPr>
              <a:t>→ 创建任务，按需写入日历 / 通知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E7EFFF"/>
                </a:solidFill>
              </a:defRPr>
            </a:pPr>
            <a:r>
              <a:rPr sz="1575" b="0">
                <a:solidFill>
                  <a:srgbClr val="E7EFFF"/>
                </a:solidFill>
              </a:rPr>
              <a:t>→ 回执验证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E7EFFF"/>
                </a:solidFill>
              </a:defRPr>
            </a:pPr>
            <a:r>
              <a:rPr sz="1575" b="0">
                <a:solidFill>
                  <a:srgbClr val="E7EFFF"/>
                </a:solidFill>
              </a:rPr>
              <a:t>→ 闭环归档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9D602-5B78-412F-BA82-C6D8822B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210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E7EFFF"/>
                </a:solidFill>
              </a:defRPr>
            </a:pPr>
            <a:r>
              <a:rPr sz="1575" b="0">
                <a:solidFill>
                  <a:srgbClr val="E7EFFF"/>
                </a:solidFill>
              </a:rPr>
              <a:t>责任人或期限缺失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E7EFFF"/>
                </a:solidFill>
              </a:defRPr>
            </a:pPr>
            <a:r>
              <a:rPr sz="1575" b="0">
                <a:solidFill>
                  <a:srgbClr val="E7EFFF"/>
                </a:solidFill>
              </a:rPr>
              <a:t>→ reviewer 阻断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E7EFFF"/>
                </a:solidFill>
              </a:defRPr>
            </a:pPr>
            <a:r>
              <a:rPr sz="1575" b="0">
                <a:solidFill>
                  <a:srgbClr val="E7EFFF"/>
                </a:solidFill>
              </a:rPr>
              <a:t>→ 不调用外部 Connector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E7EFFF"/>
                </a:solidFill>
              </a:defRPr>
            </a:pPr>
            <a:r>
              <a:rPr sz="1575" b="0">
                <a:solidFill>
                  <a:srgbClr val="E7EFFF"/>
                </a:solidFill>
              </a:rPr>
              <a:t>→ 输出待补信息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E7EFFF"/>
                </a:solidFill>
              </a:defRPr>
            </a:pPr>
            <a:r>
              <a:rPr sz="1575" b="0">
                <a:solidFill>
                  <a:srgbClr val="E7EFFF"/>
                </a:solidFill>
              </a:rPr>
              <a:t>→ 保留完整证据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E4BC1-38C7-48DE-A20E-EB245B86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C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48997-DF64-4E3C-8055-3FD76A7E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959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4A9C9"/>
                </a:solidFill>
              </a:defRPr>
            </a:pPr>
            <a:r>
              <a:rPr sz="1050" b="0">
                <a:solidFill>
                  <a:srgbClr val="94A9C9"/>
                </a:solidFill>
              </a:rPr>
              <a:t>输入哈希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5116E-8454-43A1-BF6B-FE429B2D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352550" cy="285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100000">
                <a:srgbClr val="00D9C7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B4AC9-265D-41FD-A158-DB3110D3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410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C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2ED39F-60CF-4938-B848-BBA13F1E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959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4A9C9"/>
                </a:solidFill>
              </a:defRPr>
            </a:pPr>
            <a:r>
              <a:rPr sz="1050" b="0">
                <a:solidFill>
                  <a:srgbClr val="94A9C9"/>
                </a:solidFill>
              </a:rPr>
              <a:t>Agent 产物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D76BF-0FFF-428A-8ABD-4B57A941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1352550" cy="285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100000">
                <a:srgbClr val="00D9C7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AD704-F18C-465F-8C46-A5A4F685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410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C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075AE-D587-414E-9965-802E5ACB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959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4A9C9"/>
                </a:solidFill>
              </a:defRPr>
            </a:pPr>
            <a:r>
              <a:rPr sz="1050" b="0">
                <a:solidFill>
                  <a:srgbClr val="94A9C9"/>
                </a:solidFill>
              </a:rPr>
              <a:t>审批记录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845E61-B878-471C-9888-2691CBF6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76875"/>
            <a:ext cx="1352550" cy="285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100000">
                <a:srgbClr val="00D9C7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6A1AA9-9486-41D6-BED8-EE7A42EA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410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C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729621-5B63-4A44-993C-51FD07AD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6959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4A9C9"/>
                </a:solidFill>
              </a:defRPr>
            </a:pPr>
            <a:r>
              <a:rPr sz="1050" b="0">
                <a:solidFill>
                  <a:srgbClr val="94A9C9"/>
                </a:solidFill>
              </a:rPr>
              <a:t>Tool 回执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E8E6CB-790B-4E9C-BE97-B98FDED8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76875"/>
            <a:ext cx="1352550" cy="285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100000">
                <a:srgbClr val="00D9C7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B7B449-4E50-4570-AAC1-1B056B7D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410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C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596A9C-A9F1-4C03-9EFD-4157CC46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6959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4A9C9"/>
                </a:solidFill>
              </a:defRPr>
            </a:pPr>
            <a:r>
              <a:rPr sz="1050" b="0">
                <a:solidFill>
                  <a:srgbClr val="94A9C9"/>
                </a:solidFill>
              </a:rPr>
              <a:t>验证结果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C4AC6C-E8FE-4ACE-88C3-A6269E34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476875"/>
            <a:ext cx="1352550" cy="285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100000">
                <a:srgbClr val="00D9C7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8EC70E-532B-452A-AAA2-DD5E0D96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10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C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99AFEC-8B94-4808-8EE3-933BB454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959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94A9C9"/>
                </a:solidFill>
              </a:defRPr>
            </a:pPr>
            <a:r>
              <a:rPr sz="1050" b="0">
                <a:solidFill>
                  <a:srgbClr val="94A9C9"/>
                </a:solidFill>
              </a:rPr>
              <a:t>补偿回执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BE8930-FCC9-45E2-93C6-67C9E1CF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76875"/>
            <a:ext cx="1352550" cy="2857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100000">
                <a:srgbClr val="00D9C7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F3C942-367D-4855-BB8D-6D3826C1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410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85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5C1CED-8849-430B-968F-7159E971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6959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4A9C9"/>
                </a:solidFill>
              </a:defRPr>
            </a:pPr>
            <a:r>
              <a:rPr sz="1050" b="1">
                <a:solidFill>
                  <a:srgbClr val="94A9C9"/>
                </a:solidFill>
              </a:rPr>
              <a:t>最终状态</a:t>
            </a:r>
          </a:p>
        </p:txBody>
      </p:sp>
    </p:spTree>
    <p:extLst>
      <p:ext uri="{BB962C8B-B14F-4D97-AF65-F5344CB8AC3E}">
        <p14:creationId xmlns:p14="http://schemas.microsoft.com/office/powerpoint/2010/main" val="1647846662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22D"/>
            </a:gs>
            <a:gs pos="58000">
              <a:srgbClr val="0B1640"/>
            </a:gs>
            <a:gs pos="100000">
              <a:srgbClr val="10245A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AB12BD-AF5B-434A-8142-A510A6D2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45CFF">
                  <a:alpha val="30000"/>
                </a:srgbClr>
              </a:gs>
              <a:gs pos="72000">
                <a:srgbClr val="24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6B8E3-32C1-4D03-966D-E5C41BE2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714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0D9C7">
                  <a:alpha val="12000"/>
                </a:srgbClr>
              </a:gs>
              <a:gs pos="72000">
                <a:srgbClr val="00D9C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841DD6F-6A28-44AF-9F97-014F06AF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D9C7"/>
                </a:solidFill>
              </a:defRPr>
            </a:pPr>
            <a:r>
              <a:rPr sz="975" b="1">
                <a:solidFill>
                  <a:srgbClr val="00D9C7"/>
                </a:solidFill>
              </a:rPr>
              <a:t>GOAI · AGENT INFRA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A1CDFA3-78FA-43B5-8BE1-0DEAC396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3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9C9"/>
                </a:solidFill>
              </a:defRPr>
            </a:pPr>
            <a:r>
              <a:rPr sz="975" b="1">
                <a:solidFill>
                  <a:srgbClr val="94A9C9"/>
                </a:solidFill>
              </a:rPr>
              <a:t>10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0CFA2F-3309-4665-A0CE-396D8587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AFF"/>
                </a:solidFill>
              </a:defRPr>
            </a:pPr>
            <a:r>
              <a:rPr sz="2850" b="1">
                <a:solidFill>
                  <a:srgbClr val="F7FAFF"/>
                </a:solidFill>
              </a:rPr>
              <a:t>评分关注五件事，方案逐项给出证据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6AA8273-6D4D-4C3C-9E00-487D3D0C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13525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9C9"/>
                </a:solidFill>
              </a:defRPr>
            </a:pPr>
            <a:r>
              <a:rPr sz="1350" b="0">
                <a:solidFill>
                  <a:srgbClr val="94A9C9"/>
                </a:solidFill>
              </a:rPr>
              <a:t>会议督办闭环按五个评审维度组织证据。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B899C-32F9-41A3-B368-D027B7DA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55000">
                <a:srgbClr val="00D9C7"/>
              </a:gs>
              <a:gs pos="100000">
                <a:srgbClr val="00D9C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9394A-C7D6-4C1E-BE45-F2CB2A1E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5CFF"/>
                </a:solidFill>
              </a:defRPr>
            </a:pPr>
            <a:r>
              <a:rPr sz="1875" b="1">
                <a:solidFill>
                  <a:srgbClr val="245CFF"/>
                </a:solidFill>
              </a:rPr>
              <a:t>25%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31CD22-0D6F-4C2E-A7BD-AAF297A3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621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AF938-A623-41D7-81A7-E1DEE543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038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F"/>
                </a:solidFill>
              </a:defRPr>
            </a:pPr>
            <a:r>
              <a:rPr sz="1575" b="1">
                <a:solidFill>
                  <a:srgbClr val="F7FAFF"/>
                </a:solidFill>
              </a:rPr>
              <a:t>场景价值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44C4B-EFAC-4EC4-8BBA-3AC7458B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5740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4A9C9"/>
                </a:solidFill>
              </a:defRPr>
            </a:pPr>
            <a:r>
              <a:rPr sz="1275" b="0">
                <a:solidFill>
                  <a:srgbClr val="94A9C9"/>
                </a:solidFill>
              </a:rPr>
              <a:t>会议督办高频、可复制，连接公共管理与企业管理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A0CA9-4DA1-416E-A72F-B3B83B07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A6FF"/>
                </a:solidFill>
              </a:defRPr>
            </a:pPr>
            <a:r>
              <a:rPr sz="1875" b="1">
                <a:solidFill>
                  <a:srgbClr val="00A6FF"/>
                </a:solidFill>
              </a:rPr>
              <a:t>25%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7EB976-7CDB-4B25-BBA7-1BA8132C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003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055F7-8F74-4CD2-8073-1AE9AB64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876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F"/>
                </a:solidFill>
              </a:defRPr>
            </a:pPr>
            <a:r>
              <a:rPr sz="1575" b="1">
                <a:solidFill>
                  <a:srgbClr val="F7FAFF"/>
                </a:solidFill>
              </a:rPr>
              <a:t>多 Agent 闭环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4B20B5-4A43-49F6-9CCC-BCEB213B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9560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4A9C9"/>
                </a:solidFill>
              </a:defRPr>
            </a:pPr>
            <a:r>
              <a:rPr sz="1275" b="0">
                <a:solidFill>
                  <a:srgbClr val="94A9C9"/>
                </a:solidFill>
              </a:rPr>
              <a:t>四角色拆解、结构化交接、异常分支与人控点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978EC-9E71-487E-A406-DADBA821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D9C7"/>
                </a:solidFill>
              </a:defRPr>
            </a:pPr>
            <a:r>
              <a:rPr sz="1875" b="1">
                <a:solidFill>
                  <a:srgbClr val="00D9C7"/>
                </a:solidFill>
              </a:rPr>
              <a:t>25%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F89C2-A4DD-445C-8098-F21024C0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385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C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4D3230-6748-4F71-8791-2B924AAA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14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F"/>
                </a:solidFill>
              </a:defRPr>
            </a:pPr>
            <a:r>
              <a:rPr sz="1575" b="1">
                <a:solidFill>
                  <a:srgbClr val="F7FAFF"/>
                </a:solidFill>
              </a:rPr>
              <a:t>Skill 体系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D1603-2511-4894-8AF7-E37F95B6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3380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4A9C9"/>
                </a:solidFill>
              </a:defRPr>
            </a:pPr>
            <a:r>
              <a:rPr sz="1275" b="0">
                <a:solidFill>
                  <a:srgbClr val="94A9C9"/>
                </a:solidFill>
              </a:rPr>
              <a:t>五个闭环 Skill 覆盖规划、提取、核验、派发和回执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9CEE07-AF92-4F27-AE99-19529BF9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5EF2C2"/>
                </a:solidFill>
              </a:defRPr>
            </a:pPr>
            <a:r>
              <a:rPr sz="1875" b="1">
                <a:solidFill>
                  <a:srgbClr val="5EF2C2"/>
                </a:solidFill>
              </a:rPr>
              <a:t>20%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0C7EEB-7203-4CED-BA46-73CDBB86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767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F2C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F57388-C27D-48CC-B61C-67C13A15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552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F"/>
                </a:solidFill>
              </a:defRPr>
            </a:pPr>
            <a:r>
              <a:rPr sz="1575" b="1">
                <a:solidFill>
                  <a:srgbClr val="F7FAFF"/>
                </a:solidFill>
              </a:rPr>
              <a:t>工程与审计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63C772-BC4A-4371-97A0-A85F47EA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7200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4A9C9"/>
                </a:solidFill>
              </a:defRPr>
            </a:pPr>
            <a:r>
              <a:rPr sz="1275" b="0">
                <a:solidFill>
                  <a:srgbClr val="94A9C9"/>
                </a:solidFill>
              </a:rPr>
              <a:t>本地优先、能力收窄、Trace、幂等、审批与补偿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04DDB3-50B6-4951-9FC3-A2629023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D85A"/>
                </a:solidFill>
              </a:defRPr>
            </a:pPr>
            <a:r>
              <a:rPr sz="1875" b="1">
                <a:solidFill>
                  <a:srgbClr val="FFD85A"/>
                </a:solidFill>
              </a:rPr>
              <a:t>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2891D-5C7B-4841-BB5B-FB8FC202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149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85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87B480-9825-485A-A7B6-503989F9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91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7FAFF"/>
                </a:solidFill>
              </a:defRPr>
            </a:pPr>
            <a:r>
              <a:rPr sz="1575" b="1">
                <a:solidFill>
                  <a:srgbClr val="F7FAFF"/>
                </a:solidFill>
              </a:rPr>
              <a:t>开放计划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BF837B-98C7-4AB5-9F6E-060A7572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1020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4A9C9"/>
                </a:solidFill>
              </a:defRPr>
            </a:pPr>
            <a:r>
              <a:rPr sz="1275" b="0">
                <a:solidFill>
                  <a:srgbClr val="94A9C9"/>
                </a:solidFill>
              </a:rPr>
              <a:t>Apache-2.0 开源发布；许可、依赖与开放边界已披露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5A2B99-B557-447D-B959-49100F56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076950"/>
            <a:ext cx="849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D85A"/>
                </a:solidFill>
              </a:defRPr>
            </a:pPr>
            <a:r>
              <a:rPr sz="1350" b="1">
                <a:solidFill>
                  <a:srgbClr val="FFD85A"/>
                </a:solidFill>
              </a:rPr>
              <a:t>上下文能力 4 选 2：共享状态管理（Session / Office）＋轨迹可观测（Trace / Metrics）</a:t>
            </a:r>
          </a:p>
        </p:txBody>
      </p:sp>
    </p:spTree>
    <p:extLst>
      <p:ext uri="{BB962C8B-B14F-4D97-AF65-F5344CB8AC3E}">
        <p14:creationId xmlns:p14="http://schemas.microsoft.com/office/powerpoint/2010/main" val="1933600856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22D"/>
            </a:gs>
            <a:gs pos="58000">
              <a:srgbClr val="0B1640"/>
            </a:gs>
            <a:gs pos="100000">
              <a:srgbClr val="10245A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4F7B4B-0174-4C7C-AC36-DB580AEF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45CFF">
                  <a:alpha val="30000"/>
                </a:srgbClr>
              </a:gs>
              <a:gs pos="72000">
                <a:srgbClr val="24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6D0F4-1AD5-4090-8719-09FA138A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714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0D9C7">
                  <a:alpha val="12000"/>
                </a:srgbClr>
              </a:gs>
              <a:gs pos="72000">
                <a:srgbClr val="00D9C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D9BF0A9-5DC6-449A-8B1B-A77D2EBE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D9C7"/>
                </a:solidFill>
              </a:defRPr>
            </a:pPr>
            <a:r>
              <a:rPr sz="975" b="1">
                <a:solidFill>
                  <a:srgbClr val="00D9C7"/>
                </a:solidFill>
              </a:rPr>
              <a:t>GOAI · AGENT INFRA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B69AD6-137C-457D-834F-3E68B637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3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9C9"/>
                </a:solidFill>
              </a:defRPr>
            </a:pPr>
            <a:r>
              <a:rPr sz="975" b="1">
                <a:solidFill>
                  <a:srgbClr val="94A9C9"/>
                </a:solidFill>
              </a:rPr>
              <a:t>11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4CE808-5FCE-4C8B-9D9E-EA626182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AFF"/>
                </a:solidFill>
              </a:defRPr>
            </a:pPr>
            <a:r>
              <a:rPr sz="2850" b="1">
                <a:solidFill>
                  <a:srgbClr val="F7FAFF"/>
                </a:solidFill>
              </a:rPr>
              <a:t>同一套执行合同可以复用于多种管理流程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FCC0D7D-1998-47A0-A71F-D368ED2B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13525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9C9"/>
                </a:solidFill>
              </a:defRPr>
            </a:pPr>
            <a:r>
              <a:rPr sz="1350" b="0">
                <a:solidFill>
                  <a:srgbClr val="94A9C9"/>
                </a:solidFill>
              </a:rPr>
              <a:t>业务 Skill 与 Connector 随场景变化；审批、回执、补偿与审计可以复用。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A9292-D5EC-4CD1-A8CC-90E431E5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55000">
                <a:srgbClr val="00D9C7"/>
              </a:gs>
              <a:gs pos="100000">
                <a:srgbClr val="00D9C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EB3BD-2086-4EFB-8D07-E5C69699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009900" cy="30099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45CFF">
                  <a:alpha val="85000"/>
                </a:srgbClr>
              </a:gs>
              <a:gs pos="55000">
                <a:srgbClr val="00A6FF">
                  <a:alpha val="35000"/>
                </a:srgbClr>
              </a:gs>
              <a:gs pos="72000">
                <a:srgbClr val="07122D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43E72-7AEA-47D4-B428-1BC248B4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956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F7FAFF"/>
                </a:solidFill>
              </a:defRPr>
            </a:pPr>
            <a:r>
              <a:rPr sz="2700" b="1">
                <a:solidFill>
                  <a:srgbClr val="F7FAFF"/>
                </a:solidFill>
              </a:rPr>
              <a:t>ECS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0ABEE-1EF5-4E46-B78D-7024519A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29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EF2C2"/>
                </a:solidFill>
              </a:defRPr>
            </a:pPr>
            <a:r>
              <a:rPr sz="1650" b="1">
                <a:solidFill>
                  <a:srgbClr val="5EF2C2"/>
                </a:solidFill>
              </a:rPr>
              <a:t>可信执行骨架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24DED-5069-4CC5-BEDB-35BEF2C2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724150" cy="952500"/>
          </a:xfrm>
          <a:prstGeom xmlns:a="http://schemas.openxmlformats.org/drawingml/2006/main" prst="roundRect">
            <a:avLst>
              <a:gd name="adj" fmla="val 12000"/>
            </a:avLst>
          </a:prstGeom>
          <a:gradFill xmlns:a="http://schemas.openxmlformats.org/drawingml/2006/main">
            <a:gsLst>
              <a:gs pos="0">
                <a:srgbClr val="14265B">
                  <a:alpha val="95000"/>
                </a:srgbClr>
              </a:gs>
              <a:gs pos="100000">
                <a:srgbClr val="101F49">
                  <a:alpha val="90000"/>
                </a:srgbClr>
              </a:gs>
            </a:gsLst>
            <a:lin ang="9000000"/>
          </a:gradFill>
          <a:ln xmlns:a="http://schemas.openxmlformats.org/drawingml/2006/main" w="9525">
            <a:solidFill>
              <a:srgbClr val="245CFF">
                <a:alpha val="6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0AB2D-5D94-428C-B67A-BBD5295C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C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C2F34-9F94-4136-980D-1FBF96AC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7FAFF"/>
                </a:solidFill>
              </a:defRPr>
            </a:pPr>
            <a:r>
              <a:rPr sz="1500" b="1">
                <a:solidFill>
                  <a:srgbClr val="F7FAFF"/>
                </a:solidFill>
              </a:rPr>
              <a:t>会议督办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89E85E-F817-41A2-AD1D-0AD84CD0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9C9"/>
                </a:solidFill>
              </a:defRPr>
            </a:pPr>
            <a:r>
              <a:rPr sz="1125" b="0">
                <a:solidFill>
                  <a:srgbClr val="94A9C9"/>
                </a:solidFill>
              </a:rPr>
              <a:t>决定事项 → 责任核验 → 任务与提醒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77647-152E-4B63-8AA4-6895FE07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2724150" cy="952500"/>
          </a:xfrm>
          <a:prstGeom xmlns:a="http://schemas.openxmlformats.org/drawingml/2006/main" prst="roundRect">
            <a:avLst>
              <a:gd name="adj" fmla="val 12000"/>
            </a:avLst>
          </a:prstGeom>
          <a:gradFill xmlns:a="http://schemas.openxmlformats.org/drawingml/2006/main">
            <a:gsLst>
              <a:gs pos="0">
                <a:srgbClr val="14265B">
                  <a:alpha val="95000"/>
                </a:srgbClr>
              </a:gs>
              <a:gs pos="100000">
                <a:srgbClr val="101F49">
                  <a:alpha val="90000"/>
                </a:srgbClr>
              </a:gs>
            </a:gsLst>
            <a:lin ang="9000000"/>
          </a:gradFill>
          <a:ln xmlns:a="http://schemas.openxmlformats.org/drawingml/2006/main" w="9525">
            <a:solidFill>
              <a:srgbClr val="00A6FF">
                <a:alpha val="6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419165-C8B1-4081-8DBA-EC0D0229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FF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51E6E8-269A-4583-82E1-2459077F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244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7FAFF"/>
                </a:solidFill>
              </a:defRPr>
            </a:pPr>
            <a:r>
              <a:rPr sz="1500" b="1">
                <a:solidFill>
                  <a:srgbClr val="F7FAFF"/>
                </a:solidFill>
              </a:rPr>
              <a:t>审批预检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021145-141B-4003-AA40-6A13FC94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6730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9C9"/>
                </a:solidFill>
              </a:defRPr>
            </a:pPr>
            <a:r>
              <a:rPr sz="1125" b="0">
                <a:solidFill>
                  <a:srgbClr val="94A9C9"/>
                </a:solidFill>
              </a:rPr>
              <a:t>制度核对 → 材料补齐 → 人工提交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8AC77-803C-4032-94BF-627A50B4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724150" cy="952500"/>
          </a:xfrm>
          <a:prstGeom xmlns:a="http://schemas.openxmlformats.org/drawingml/2006/main" prst="roundRect">
            <a:avLst>
              <a:gd name="adj" fmla="val 12000"/>
            </a:avLst>
          </a:prstGeom>
          <a:gradFill xmlns:a="http://schemas.openxmlformats.org/drawingml/2006/main">
            <a:gsLst>
              <a:gs pos="0">
                <a:srgbClr val="14265B">
                  <a:alpha val="95000"/>
                </a:srgbClr>
              </a:gs>
              <a:gs pos="100000">
                <a:srgbClr val="101F49">
                  <a:alpha val="90000"/>
                </a:srgbClr>
              </a:gs>
            </a:gsLst>
            <a:lin ang="9000000"/>
          </a:gradFill>
          <a:ln xmlns:a="http://schemas.openxmlformats.org/drawingml/2006/main" w="9525">
            <a:solidFill>
              <a:srgbClr val="00D9C7">
                <a:alpha val="6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4B7B3-0911-47E8-A9C9-6EF8956D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D9C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F46B5-C849-42C7-8918-9B2A71EB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526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7FAFF"/>
                </a:solidFill>
              </a:defRPr>
            </a:pPr>
            <a:r>
              <a:rPr sz="1500" b="1">
                <a:solidFill>
                  <a:srgbClr val="F7FAFF"/>
                </a:solidFill>
              </a:rPr>
              <a:t>政策研究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781CC6-8A4F-4F90-BF72-46EE8DE0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9555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9C9"/>
                </a:solidFill>
              </a:defRPr>
            </a:pPr>
            <a:r>
              <a:rPr sz="1125" b="0">
                <a:solidFill>
                  <a:srgbClr val="94A9C9"/>
                </a:solidFill>
              </a:rPr>
              <a:t>拆题检索 → 证据对齐 → 简报复核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C0DAB-8C7A-4AFD-94C8-D293AE5B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724150" cy="952500"/>
          </a:xfrm>
          <a:prstGeom xmlns:a="http://schemas.openxmlformats.org/drawingml/2006/main" prst="roundRect">
            <a:avLst>
              <a:gd name="adj" fmla="val 12000"/>
            </a:avLst>
          </a:prstGeom>
          <a:gradFill xmlns:a="http://schemas.openxmlformats.org/drawingml/2006/main">
            <a:gsLst>
              <a:gs pos="0">
                <a:srgbClr val="14265B">
                  <a:alpha val="95000"/>
                </a:srgbClr>
              </a:gs>
              <a:gs pos="100000">
                <a:srgbClr val="101F49">
                  <a:alpha val="90000"/>
                </a:srgbClr>
              </a:gs>
            </a:gsLst>
            <a:lin ang="9000000"/>
          </a:gradFill>
          <a:ln xmlns:a="http://schemas.openxmlformats.org/drawingml/2006/main" w="9525">
            <a:solidFill>
              <a:srgbClr val="5EF2C2">
                <a:alpha val="6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DCFC4E-4189-48D7-B973-A88E201F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F2C2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7EA0BF-B355-45DB-8415-30B097F0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5290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7FAFF"/>
                </a:solidFill>
              </a:defRPr>
            </a:pPr>
            <a:r>
              <a:rPr sz="1500" b="1">
                <a:solidFill>
                  <a:srgbClr val="F7FAFF"/>
                </a:solidFill>
              </a:rPr>
              <a:t>经营简报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05177B-B73D-4329-BFDC-52BCEA48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9580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9C9"/>
                </a:solidFill>
              </a:defRPr>
            </a:pPr>
            <a:r>
              <a:rPr sz="1125" b="0">
                <a:solidFill>
                  <a:srgbClr val="94A9C9"/>
                </a:solidFill>
              </a:rPr>
              <a:t>指标提取 → 异常解释 → 口径确认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AD8E79-3AE8-44D6-84FE-2E8159CA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67300"/>
            <a:ext cx="3238500" cy="800100"/>
          </a:xfrm>
          <a:prstGeom xmlns:a="http://schemas.openxmlformats.org/drawingml/2006/main" prst="roundRect">
            <a:avLst>
              <a:gd name="adj" fmla="val 14286"/>
            </a:avLst>
          </a:prstGeom>
          <a:gradFill xmlns:a="http://schemas.openxmlformats.org/drawingml/2006/main">
            <a:gsLst>
              <a:gs pos="0">
                <a:srgbClr val="14265B">
                  <a:alpha val="95000"/>
                </a:srgbClr>
              </a:gs>
              <a:gs pos="100000">
                <a:srgbClr val="101F49">
                  <a:alpha val="90000"/>
                </a:srgbClr>
              </a:gs>
            </a:gsLst>
            <a:lin ang="9000000"/>
          </a:gradFill>
          <a:ln xmlns:a="http://schemas.openxmlformats.org/drawingml/2006/main" w="9525">
            <a:solidFill>
              <a:srgbClr val="FFD85A">
                <a:alpha val="60000"/>
              </a:srgbClr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352E42-8A15-4E04-BB18-5D236906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67300"/>
            <a:ext cx="5715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85A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7E69AC-1CA2-4CB5-811D-D56B2F56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19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7FAFF"/>
                </a:solidFill>
              </a:defRPr>
            </a:pPr>
            <a:r>
              <a:rPr sz="1500" b="1">
                <a:solidFill>
                  <a:srgbClr val="F7FAFF"/>
                </a:solidFill>
              </a:rPr>
              <a:t>跨部门协同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2970AE-5F4D-4450-B18F-1C6250AB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562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9C9"/>
                </a:solidFill>
              </a:defRPr>
            </a:pPr>
            <a:r>
              <a:rPr sz="1125" b="0">
                <a:solidFill>
                  <a:srgbClr val="94A9C9"/>
                </a:solidFill>
              </a:rPr>
              <a:t>任务交接 → 状态追踪 → 结果归档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D091D5-4788-415C-9320-16CB81F2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962650"/>
            <a:ext cx="586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4A9C9"/>
                </a:solidFill>
              </a:defRPr>
            </a:pPr>
            <a:r>
              <a:rPr sz="1350" b="1">
                <a:solidFill>
                  <a:srgbClr val="94A9C9"/>
                </a:solidFill>
              </a:rPr>
              <a:t>Tool / Skill / Agent / Office Component 分层扩展</a:t>
            </a:r>
          </a:p>
        </p:txBody>
      </p:sp>
    </p:spTree>
    <p:extLst>
      <p:ext uri="{BB962C8B-B14F-4D97-AF65-F5344CB8AC3E}">
        <p14:creationId xmlns:p14="http://schemas.microsoft.com/office/powerpoint/2010/main" val="659578476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22D"/>
            </a:gs>
            <a:gs pos="58000">
              <a:srgbClr val="0B1640"/>
            </a:gs>
            <a:gs pos="100000">
              <a:srgbClr val="10245A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6A045-09D2-4291-A7F3-4F940F80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45CFF">
                  <a:alpha val="30000"/>
                </a:srgbClr>
              </a:gs>
              <a:gs pos="72000">
                <a:srgbClr val="24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21C12-8148-49AB-916D-35B01868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714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0D9C7">
                  <a:alpha val="12000"/>
                </a:srgbClr>
              </a:gs>
              <a:gs pos="72000">
                <a:srgbClr val="00D9C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BAB2456-C633-4CB8-834E-EB8A1A30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D9C7"/>
                </a:solidFill>
              </a:defRPr>
            </a:pPr>
            <a:r>
              <a:rPr sz="975" b="1">
                <a:solidFill>
                  <a:srgbClr val="00D9C7"/>
                </a:solidFill>
              </a:rPr>
              <a:t>GOAI · AGENT INFRA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F9E0131-1E40-4A3D-8486-E33EAC13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3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9C9"/>
                </a:solidFill>
              </a:defRPr>
            </a:pPr>
            <a:r>
              <a:rPr sz="975" b="1">
                <a:solidFill>
                  <a:srgbClr val="94A9C9"/>
                </a:solidFill>
              </a:rPr>
              <a:t>12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EA8A39-48D2-49E9-9C0E-BB54F0B7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AFF"/>
                </a:solidFill>
              </a:defRPr>
            </a:pPr>
            <a:r>
              <a:rPr sz="2850" b="1">
                <a:solidFill>
                  <a:srgbClr val="F7FAFF"/>
                </a:solidFill>
              </a:rPr>
              <a:t>运行画面：可信闭环的逐步证据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CC2875-484C-4346-B07C-85E3CCD8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13525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9C9"/>
                </a:solidFill>
              </a:defRPr>
            </a:pPr>
            <a:r>
              <a:rPr sz="1350" b="0">
                <a:solidFill>
                  <a:srgbClr val="94A9C9"/>
                </a:solidFill>
              </a:rPr>
              <a:t>自然语言目标编译成可持久化工单，并明确目标 Group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B069A-6F66-4275-9CA4-53FC66D6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55000">
                <a:srgbClr val="00D9C7"/>
              </a:gs>
              <a:gs pos="100000">
                <a:srgbClr val="00D9C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C09EB-6341-46EC-84A0-60B1DD08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1810512"/>
            <a:ext cx="548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F2C2"/>
                </a:solidFill>
              </a:defRPr>
            </a:pPr>
            <a:r>
              <a:rPr sz="1350" b="1">
                <a:solidFill>
                  <a:srgbClr val="5EF2C2"/>
                </a:solidFill>
              </a:rPr>
              <a:t>01  Office 建单 / 派发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6c0abddce426c"/>
          <a:srcRect xmlns:a="http://schemas.openxmlformats.org/drawingml/2006/main" l="0" t="19745" r="0" b="197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904" y="2286000"/>
            <a:ext cx="10972800" cy="3739896"/>
          </a:xfrm>
          <a:prstGeom xmlns:a="http://schemas.openxmlformats.org/drawingml/2006/main" prst="roundRect">
            <a:avLst/>
          </a:prstGeom>
        </p:spPr>
      </p:pic>
      <p:sp>
        <p:nvSpPr>
          <p:cNvPr id="36" name="evidence-provenanc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6126480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>
                <a:solidFill>
                  <a:srgbClr val="94A9C9"/>
                </a:solidFill>
              </a:defRPr>
            </a:pPr>
            <a:r>
              <a:rPr sz="975">
                <a:solidFill>
                  <a:srgbClr val="94A9C9"/>
                </a:solidFill>
              </a:rPr>
              <a:t>证据来源 · 仓库内固定回归数据集 evidence/meeting-followup/reference · 由 scripts/demo-meeting-followup.sh 复现 · SHA256 已校验</a:t>
            </a:r>
          </a:p>
        </p:txBody>
      </p:sp>
    </p:spTree>
    <p:extLst>
      <p:ext uri="{BB962C8B-B14F-4D97-AF65-F5344CB8AC3E}">
        <p14:creationId xmlns:p14="http://schemas.microsoft.com/office/powerpoint/2010/main" val="1856138100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22D"/>
            </a:gs>
            <a:gs pos="58000">
              <a:srgbClr val="0B1640"/>
            </a:gs>
            <a:gs pos="100000">
              <a:srgbClr val="10245A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6A045-09D2-4291-A7F3-4F940F80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45CFF">
                  <a:alpha val="30000"/>
                </a:srgbClr>
              </a:gs>
              <a:gs pos="72000">
                <a:srgbClr val="24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21C12-8148-49AB-916D-35B01868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714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0D9C7">
                  <a:alpha val="12000"/>
                </a:srgbClr>
              </a:gs>
              <a:gs pos="72000">
                <a:srgbClr val="00D9C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BAB2456-C633-4CB8-834E-EB8A1A30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D9C7"/>
                </a:solidFill>
              </a:defRPr>
            </a:pPr>
            <a:r>
              <a:rPr sz="975" b="1">
                <a:solidFill>
                  <a:srgbClr val="00D9C7"/>
                </a:solidFill>
              </a:rPr>
              <a:t>GOAI · AGENT INFRA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F9E0131-1E40-4A3D-8486-E33EAC13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3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9C9"/>
                </a:solidFill>
              </a:defRPr>
            </a:pPr>
            <a:r>
              <a:rPr sz="975" b="1">
                <a:solidFill>
                  <a:srgbClr val="94A9C9"/>
                </a:solidFill>
              </a:rPr>
              <a:t>13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EA8A39-48D2-49E9-9C0E-BB54F0B7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AFF"/>
                </a:solidFill>
              </a:defRPr>
            </a:pPr>
            <a:r>
              <a:rPr sz="2850" b="1">
                <a:solidFill>
                  <a:srgbClr val="F7FAFF"/>
                </a:solidFill>
              </a:rPr>
              <a:t>运行画面：可信闭环的逐步证据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CC2875-484C-4346-B07C-85E3CCD8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13525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9C9"/>
                </a:solidFill>
              </a:defRPr>
            </a:pPr>
            <a:r>
              <a:rPr sz="1350" b="0">
                <a:solidFill>
                  <a:srgbClr val="94A9C9"/>
                </a:solidFill>
              </a:rPr>
              <a:t>批准前外部调用为零；批准者、意见与策略快照全部留痕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B069A-6F66-4275-9CA4-53FC66D6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55000">
                <a:srgbClr val="00D9C7"/>
              </a:gs>
              <a:gs pos="100000">
                <a:srgbClr val="00D9C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9C8FD-0884-4E9C-AE6C-1DC9AC97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1810512"/>
            <a:ext cx="548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D34E"/>
                </a:solidFill>
              </a:defRPr>
            </a:pPr>
            <a:r>
              <a:rPr sz="1350" b="1">
                <a:solidFill>
                  <a:srgbClr val="FFD34E"/>
                </a:solidFill>
              </a:rPr>
              <a:t>02  人工审批门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813729dee4633"/>
          <a:srcRect xmlns:a="http://schemas.openxmlformats.org/drawingml/2006/main" l="0" t="19745" r="0" b="197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904" y="2286000"/>
            <a:ext cx="10972800" cy="3739896"/>
          </a:xfrm>
          <a:prstGeom xmlns:a="http://schemas.openxmlformats.org/drawingml/2006/main" prst="roundRect">
            <a:avLst/>
          </a:prstGeom>
        </p:spPr>
      </p:pic>
      <p:sp>
        <p:nvSpPr>
          <p:cNvPr id="36" name="evidence-provenanc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6126480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>
                <a:solidFill>
                  <a:srgbClr val="94A9C9"/>
                </a:solidFill>
              </a:defRPr>
            </a:pPr>
            <a:r>
              <a:rPr sz="975">
                <a:solidFill>
                  <a:srgbClr val="94A9C9"/>
                </a:solidFill>
              </a:rPr>
              <a:t>证据来源 · 仓库内固定回归数据集 evidence/meeting-followup/reference · 由 scripts/demo-meeting-followup.sh 复现 · SHA256 已校验</a:t>
            </a:r>
          </a:p>
        </p:txBody>
      </p:sp>
    </p:spTree>
    <p:extLst>
      <p:ext uri="{BB962C8B-B14F-4D97-AF65-F5344CB8AC3E}">
        <p14:creationId xmlns:p14="http://schemas.microsoft.com/office/powerpoint/2010/main" val="1746854178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22D"/>
            </a:gs>
            <a:gs pos="58000">
              <a:srgbClr val="0B1640"/>
            </a:gs>
            <a:gs pos="100000">
              <a:srgbClr val="10245A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6A045-09D2-4291-A7F3-4F940F80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45CFF">
                  <a:alpha val="30000"/>
                </a:srgbClr>
              </a:gs>
              <a:gs pos="72000">
                <a:srgbClr val="24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21C12-8148-49AB-916D-35B01868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714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0D9C7">
                  <a:alpha val="12000"/>
                </a:srgbClr>
              </a:gs>
              <a:gs pos="72000">
                <a:srgbClr val="00D9C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BAB2456-C633-4CB8-834E-EB8A1A30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D9C7"/>
                </a:solidFill>
              </a:defRPr>
            </a:pPr>
            <a:r>
              <a:rPr sz="975" b="1">
                <a:solidFill>
                  <a:srgbClr val="00D9C7"/>
                </a:solidFill>
              </a:rPr>
              <a:t>GOAI · AGENT INFRA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F9E0131-1E40-4A3D-8486-E33EAC13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3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9C9"/>
                </a:solidFill>
              </a:defRPr>
            </a:pPr>
            <a:r>
              <a:rPr sz="975" b="1">
                <a:solidFill>
                  <a:srgbClr val="94A9C9"/>
                </a:solidFill>
              </a:rPr>
              <a:t>14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EA8A39-48D2-49E9-9C0E-BB54F0B7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AFF"/>
                </a:solidFill>
              </a:defRPr>
            </a:pPr>
            <a:r>
              <a:rPr sz="2850" b="1">
                <a:solidFill>
                  <a:srgbClr val="F7FAFF"/>
                </a:solidFill>
              </a:rPr>
              <a:t>运行画面：可信闭环的逐步证据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CC2875-484C-4346-B07C-85E3CCD8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13525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9C9"/>
                </a:solidFill>
              </a:defRPr>
            </a:pPr>
            <a:r>
              <a:rPr sz="1350" b="0">
                <a:solidFill>
                  <a:srgbClr val="94A9C9"/>
                </a:solidFill>
              </a:rPr>
              <a:t>从 work_order.planned 到 receipt.verified 的完整审计事件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B069A-6F66-4275-9CA4-53FC66D6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55000">
                <a:srgbClr val="00D9C7"/>
              </a:gs>
              <a:gs pos="100000">
                <a:srgbClr val="00D9C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49C537-93A7-4725-8C92-D91057F9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1810512"/>
            <a:ext cx="548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D9C7"/>
                </a:solidFill>
              </a:defRPr>
            </a:pPr>
            <a:r>
              <a:rPr sz="1350" b="1">
                <a:solidFill>
                  <a:srgbClr val="00D9C7"/>
                </a:solidFill>
              </a:rPr>
              <a:t>03  证据时间线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3cc84e909436d"/>
          <a:srcRect xmlns:a="http://schemas.openxmlformats.org/drawingml/2006/main" l="0" t="19745" r="0" b="197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904" y="2286000"/>
            <a:ext cx="10972800" cy="3739896"/>
          </a:xfrm>
          <a:prstGeom xmlns:a="http://schemas.openxmlformats.org/drawingml/2006/main" prst="roundRect">
            <a:avLst/>
          </a:prstGeom>
        </p:spPr>
      </p:pic>
      <p:sp>
        <p:nvSpPr>
          <p:cNvPr id="36" name="evidence-provenanc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6126480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>
                <a:solidFill>
                  <a:srgbClr val="94A9C9"/>
                </a:solidFill>
              </a:defRPr>
            </a:pPr>
            <a:r>
              <a:rPr sz="975">
                <a:solidFill>
                  <a:srgbClr val="94A9C9"/>
                </a:solidFill>
              </a:rPr>
              <a:t>证据来源 · 仓库内固定回归数据集 evidence/meeting-followup/reference · 由 scripts/demo-meeting-followup.sh 复现 · SHA256 已校验</a:t>
            </a:r>
          </a:p>
        </p:txBody>
      </p:sp>
    </p:spTree>
    <p:extLst>
      <p:ext uri="{BB962C8B-B14F-4D97-AF65-F5344CB8AC3E}">
        <p14:creationId xmlns:p14="http://schemas.microsoft.com/office/powerpoint/2010/main" val="1182535831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22D"/>
            </a:gs>
            <a:gs pos="58000">
              <a:srgbClr val="0B1640"/>
            </a:gs>
            <a:gs pos="100000">
              <a:srgbClr val="10245A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6A045-09D2-4291-A7F3-4F940F80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45CFF">
                  <a:alpha val="30000"/>
                </a:srgbClr>
              </a:gs>
              <a:gs pos="72000">
                <a:srgbClr val="24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21C12-8148-49AB-916D-35B01868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714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0D9C7">
                  <a:alpha val="12000"/>
                </a:srgbClr>
              </a:gs>
              <a:gs pos="72000">
                <a:srgbClr val="00D9C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BAB2456-C633-4CB8-834E-EB8A1A30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D9C7"/>
                </a:solidFill>
              </a:defRPr>
            </a:pPr>
            <a:r>
              <a:rPr sz="975" b="1">
                <a:solidFill>
                  <a:srgbClr val="00D9C7"/>
                </a:solidFill>
              </a:rPr>
              <a:t>GOAI · AGENT INFRA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F9E0131-1E40-4A3D-8486-E33EAC13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3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9C9"/>
                </a:solidFill>
              </a:defRPr>
            </a:pPr>
            <a:r>
              <a:rPr sz="975" b="1">
                <a:solidFill>
                  <a:srgbClr val="94A9C9"/>
                </a:solidFill>
              </a:rPr>
              <a:t>15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EA8A39-48D2-49E9-9C0E-BB54F0B7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AFF"/>
                </a:solidFill>
              </a:defRPr>
            </a:pPr>
            <a:r>
              <a:rPr sz="2850" b="1">
                <a:solidFill>
                  <a:srgbClr val="F7FAFF"/>
                </a:solidFill>
              </a:rPr>
              <a:t>运行画面：可信闭环的逐步证据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CC2875-484C-4346-B07C-85E3CCD8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13525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9C9"/>
                </a:solidFill>
              </a:defRPr>
            </a:pPr>
            <a:r>
              <a:rPr sz="1350" b="0">
                <a:solidFill>
                  <a:srgbClr val="94A9C9"/>
                </a:solidFill>
              </a:rPr>
              <a:t>同一 trace_id 串起 controller 与两个 worker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B069A-6F66-4275-9CA4-53FC66D6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55000">
                <a:srgbClr val="00D9C7"/>
              </a:gs>
              <a:gs pos="100000">
                <a:srgbClr val="00D9C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FF16C9-37AA-47EB-A447-291D80B7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1810512"/>
            <a:ext cx="548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C82FF"/>
                </a:solidFill>
              </a:defRPr>
            </a:pPr>
            <a:r>
              <a:rPr sz="1350" b="1">
                <a:solidFill>
                  <a:srgbClr val="3C82FF"/>
                </a:solidFill>
              </a:rPr>
              <a:t>04  三节点 Trace 树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a2262e9f04908"/>
          <a:srcRect xmlns:a="http://schemas.openxmlformats.org/drawingml/2006/main" l="0" t="19745" r="0" b="197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904" y="2286000"/>
            <a:ext cx="10972800" cy="3739896"/>
          </a:xfrm>
          <a:prstGeom xmlns:a="http://schemas.openxmlformats.org/drawingml/2006/main" prst="roundRect">
            <a:avLst/>
          </a:prstGeom>
        </p:spPr>
      </p:pic>
      <p:sp>
        <p:nvSpPr>
          <p:cNvPr id="36" name="evidence-provenanc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6126480"/>
            <a:ext cx="10972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>
                <a:solidFill>
                  <a:srgbClr val="94A9C9"/>
                </a:solidFill>
              </a:defRPr>
            </a:pPr>
            <a:r>
              <a:rPr sz="975">
                <a:solidFill>
                  <a:srgbClr val="94A9C9"/>
                </a:solidFill>
              </a:rPr>
              <a:t>证据来源 · 2026-08-07 实时三节点回归 · 三节点同 trace f18684b48bc024429d92c492</a:t>
            </a:r>
          </a:p>
        </p:txBody>
      </p:sp>
    </p:spTree>
    <p:extLst>
      <p:ext uri="{BB962C8B-B14F-4D97-AF65-F5344CB8AC3E}">
        <p14:creationId xmlns:p14="http://schemas.microsoft.com/office/powerpoint/2010/main" val="2081596067"/>
      </p:ext>
    </p:extLst>
  </p:cSld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22D"/>
            </a:gs>
            <a:gs pos="58000">
              <a:srgbClr val="0B1640"/>
            </a:gs>
            <a:gs pos="100000">
              <a:srgbClr val="10245A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42BED4-2CAA-4813-8177-CB9C156B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2571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45CFF">
                  <a:alpha val="30000"/>
                </a:srgbClr>
              </a:gs>
              <a:gs pos="72000">
                <a:srgbClr val="245C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49FF0-E5E3-4766-96F6-9202C7E3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714500" cy="1714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00D9C7">
                  <a:alpha val="12000"/>
                </a:srgbClr>
              </a:gs>
              <a:gs pos="72000">
                <a:srgbClr val="00D9C7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3D93D44-DC2F-4D53-B798-7F0B06E5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D9C7"/>
                </a:solidFill>
              </a:defRPr>
            </a:pPr>
            <a:r>
              <a:rPr sz="975" b="1">
                <a:solidFill>
                  <a:srgbClr val="00D9C7"/>
                </a:solidFill>
              </a:rPr>
              <a:t>GOAI · AGENT INFRA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3B55D76-1F0A-4397-BEF7-FA02237F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3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94A9C9"/>
                </a:solidFill>
              </a:defRPr>
            </a:pPr>
            <a:r>
              <a:rPr sz="975" b="1">
                <a:solidFill>
                  <a:srgbClr val="94A9C9"/>
                </a:solidFill>
              </a:rPr>
              <a:t>16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054C90-5330-4822-8128-C7F3CC05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7FAFF"/>
                </a:solidFill>
              </a:defRPr>
            </a:pPr>
            <a:r>
              <a:rPr sz="2850" b="1">
                <a:solidFill>
                  <a:srgbClr val="F7FAFF"/>
                </a:solidFill>
              </a:rPr>
              <a:t>闭环已经可复现，下一步连接真实业务系统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A2F607A-5BB5-4536-9756-848B45D5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" y="13525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4A9C9"/>
                </a:solidFill>
              </a:defRPr>
            </a:pPr>
            <a:r>
              <a:rPr sz="1350" b="0">
                <a:solidFill>
                  <a:srgbClr val="94A9C9"/>
                </a:solidFill>
              </a:rPr>
              <a:t>双路径、三节点与恢复链已有证据；下一阶段聚焦真实 Connector。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5D6E3-DF59-48AA-A1E1-059C1D41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190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245CFF"/>
              </a:gs>
              <a:gs pos="55000">
                <a:srgbClr val="00D9C7"/>
              </a:gs>
              <a:gs pos="100000">
                <a:srgbClr val="00D9C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milestone-1">
            <a:extLst xmlns:a="http://schemas.openxmlformats.org/drawingml/2006/main">
              <a:ext uri="{FF2B5EF4-FFF2-40B4-BE49-F238E27FC236}">
                <a16:creationId xmlns:a16="http://schemas.microsoft.com/office/drawing/2014/main" id="{39EE4D3F-38C1-4854-AAB7-46DB4661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400300" cy="1885950"/>
          </a:xfrm>
          <a:prstGeom xmlns:a="http://schemas.openxmlformats.org/drawingml/2006/main" prst="roundRect">
            <a:avLst>
              <a:gd name="adj" fmla="val 8081"/>
            </a:avLst>
          </a:prstGeom>
          <a:gradFill xmlns:a="http://schemas.openxmlformats.org/drawingml/2006/main">
            <a:gsLst>
              <a:gs pos="0">
                <a:srgbClr val="14265B"/>
              </a:gs>
              <a:gs pos="100000">
                <a:srgbClr val="101F49"/>
              </a:gs>
            </a:gsLst>
            <a:lin ang="9300000"/>
          </a:gradFill>
          <a:ln xmlns:a="http://schemas.openxmlformats.org/drawingml/2006/main" w="9525">
            <a:solidFill>
              <a:srgbClr val="245CFF">
                <a:alpha val="6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CB2C9-6DA5-4030-8C89-DC16C662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45CFF"/>
                </a:solidFill>
              </a:defRPr>
            </a:pPr>
            <a:r>
              <a:rPr sz="1275" b="1">
                <a:solidFill>
                  <a:srgbClr val="245C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2F740-AF95-4937-B499-3AF0E7F2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AFF"/>
                </a:solidFill>
              </a:defRPr>
            </a:pPr>
            <a:r>
              <a:rPr sz="1800" b="1">
                <a:solidFill>
                  <a:srgbClr val="F7FAFF"/>
                </a:solidFill>
              </a:rPr>
              <a:t>合同已贯通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F7498-F56E-4F23-A78C-623D4CE5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4A9C9"/>
                </a:solidFill>
              </a:defRPr>
            </a:pPr>
            <a:r>
              <a:rPr sz="1200" b="0">
                <a:solidFill>
                  <a:srgbClr val="94A9C9"/>
                </a:solidFill>
              </a:rPr>
              <a:t>Stage / Skill / Connector / Trace</a:t>
            </a:r>
          </a:p>
        </p:txBody>
      </p:sp>
      <p:sp>
        <p:nvSpPr>
          <p:cNvPr id="12" name="milestone-2">
            <a:extLst xmlns:a="http://schemas.openxmlformats.org/drawingml/2006/main">
              <a:ext uri="{FF2B5EF4-FFF2-40B4-BE49-F238E27FC236}">
                <a16:creationId xmlns:a16="http://schemas.microsoft.com/office/drawing/2014/main" id="{81BC10A6-AD1E-46C6-B388-CDDDCCAA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5050"/>
            <a:ext cx="2400300" cy="1885950"/>
          </a:xfrm>
          <a:prstGeom xmlns:a="http://schemas.openxmlformats.org/drawingml/2006/main" prst="roundRect">
            <a:avLst>
              <a:gd name="adj" fmla="val 8081"/>
            </a:avLst>
          </a:prstGeom>
          <a:gradFill xmlns:a="http://schemas.openxmlformats.org/drawingml/2006/main">
            <a:gsLst>
              <a:gs pos="0">
                <a:srgbClr val="14265B"/>
              </a:gs>
              <a:gs pos="100000">
                <a:srgbClr val="101F49"/>
              </a:gs>
            </a:gsLst>
            <a:lin ang="9300000"/>
          </a:gradFill>
          <a:ln xmlns:a="http://schemas.openxmlformats.org/drawingml/2006/main" w="9525">
            <a:solidFill>
              <a:srgbClr val="00A6FF">
                <a:alpha val="6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EE85A-7AE6-48FE-834C-3B6B585D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14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A6FF"/>
                </a:solidFill>
              </a:defRPr>
            </a:pPr>
            <a:r>
              <a:rPr sz="1275" b="1">
                <a:solidFill>
                  <a:srgbClr val="00A6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DD3EF-B68F-403C-9F49-A2551BC0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718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AFF"/>
                </a:solidFill>
              </a:defRPr>
            </a:pPr>
            <a:r>
              <a:rPr sz="1800" b="1">
                <a:solidFill>
                  <a:srgbClr val="F7FAFF"/>
                </a:solidFill>
              </a:rPr>
              <a:t>执行可恢复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79711-3CA5-4708-AF20-2D31AD41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480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4A9C9"/>
                </a:solidFill>
              </a:defRPr>
            </a:pPr>
            <a:r>
              <a:rPr sz="1200" b="0">
                <a:solidFill>
                  <a:srgbClr val="94A9C9"/>
                </a:solidFill>
              </a:rPr>
              <a:t>Attempt / Outbox / Reaper</a:t>
            </a:r>
          </a:p>
        </p:txBody>
      </p:sp>
      <p:sp>
        <p:nvSpPr>
          <p:cNvPr id="16" name="milestone-3">
            <a:extLst xmlns:a="http://schemas.openxmlformats.org/drawingml/2006/main">
              <a:ext uri="{FF2B5EF4-FFF2-40B4-BE49-F238E27FC236}">
                <a16:creationId xmlns:a16="http://schemas.microsoft.com/office/drawing/2014/main" id="{8019B786-E3BE-45F0-8838-E181BF2D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05050"/>
            <a:ext cx="2400300" cy="1885950"/>
          </a:xfrm>
          <a:prstGeom xmlns:a="http://schemas.openxmlformats.org/drawingml/2006/main" prst="roundRect">
            <a:avLst>
              <a:gd name="adj" fmla="val 8081"/>
            </a:avLst>
          </a:prstGeom>
          <a:gradFill xmlns:a="http://schemas.openxmlformats.org/drawingml/2006/main">
            <a:gsLst>
              <a:gs pos="0">
                <a:srgbClr val="14265B"/>
              </a:gs>
              <a:gs pos="100000">
                <a:srgbClr val="101F49"/>
              </a:gs>
            </a:gsLst>
            <a:lin ang="9300000"/>
          </a:gradFill>
          <a:ln xmlns:a="http://schemas.openxmlformats.org/drawingml/2006/main" w="9525">
            <a:solidFill>
              <a:srgbClr val="00D9C7">
                <a:alpha val="6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A18A1-663C-441B-BCBA-C2572365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D9C7"/>
                </a:solidFill>
              </a:defRPr>
            </a:pPr>
            <a:r>
              <a:rPr sz="1275" b="1">
                <a:solidFill>
                  <a:srgbClr val="00D9C7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6990F-D637-4370-95CA-5CEBFC4C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AFF"/>
                </a:solidFill>
              </a:defRPr>
            </a:pPr>
            <a:r>
              <a:rPr sz="1800" b="1">
                <a:solidFill>
                  <a:srgbClr val="F7FAFF"/>
                </a:solidFill>
              </a:rPr>
              <a:t>证据可复现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9D1DA9-A18B-47FC-8ABA-828BCF8E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4A9C9"/>
                </a:solidFill>
              </a:defRPr>
            </a:pPr>
            <a:r>
              <a:rPr sz="1200" b="0">
                <a:solidFill>
                  <a:srgbClr val="94A9C9"/>
                </a:solidFill>
              </a:rPr>
              <a:t>双路径 × 5 / 三节点 / Trace</a:t>
            </a:r>
          </a:p>
        </p:txBody>
      </p:sp>
      <p:sp>
        <p:nvSpPr>
          <p:cNvPr id="20" name="milestone-4">
            <a:extLst xmlns:a="http://schemas.openxmlformats.org/drawingml/2006/main">
              <a:ext uri="{FF2B5EF4-FFF2-40B4-BE49-F238E27FC236}">
                <a16:creationId xmlns:a16="http://schemas.microsoft.com/office/drawing/2014/main" id="{BF339E80-55C8-405E-949C-62A8271D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05050"/>
            <a:ext cx="2400300" cy="1885950"/>
          </a:xfrm>
          <a:prstGeom xmlns:a="http://schemas.openxmlformats.org/drawingml/2006/main" prst="roundRect">
            <a:avLst>
              <a:gd name="adj" fmla="val 8081"/>
            </a:avLst>
          </a:prstGeom>
          <a:gradFill xmlns:a="http://schemas.openxmlformats.org/drawingml/2006/main">
            <a:gsLst>
              <a:gs pos="0">
                <a:srgbClr val="14265B"/>
              </a:gs>
              <a:gs pos="100000">
                <a:srgbClr val="101F49"/>
              </a:gs>
            </a:gsLst>
            <a:lin ang="9300000"/>
          </a:gradFill>
          <a:ln xmlns:a="http://schemas.openxmlformats.org/drawingml/2006/main" w="9525">
            <a:solidFill>
              <a:srgbClr val="FFD85A">
                <a:alpha val="6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92890-2A3D-4FE7-AB12-9CE11D1B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14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D85A"/>
                </a:solidFill>
              </a:defRPr>
            </a:pPr>
            <a:r>
              <a:rPr sz="1275" b="1">
                <a:solidFill>
                  <a:srgbClr val="FFD85A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C09DF-E4E1-40F1-A16A-99F2C1AD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718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7FAFF"/>
                </a:solidFill>
              </a:defRPr>
            </a:pPr>
            <a:r>
              <a:rPr sz="1800" b="1">
                <a:solidFill>
                  <a:srgbClr val="F7FAFF"/>
                </a:solidFill>
              </a:rPr>
              <a:t>接真实系统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AA0225-946A-49E8-B9F0-B319A174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480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4A9C9"/>
                </a:solidFill>
              </a:defRPr>
            </a:pPr>
            <a:r>
              <a:rPr sz="1200" b="0">
                <a:solidFill>
                  <a:srgbClr val="94A9C9"/>
                </a:solidFill>
              </a:rPr>
              <a:t>Connector / MCP / 安全部署</a:t>
            </a:r>
          </a:p>
        </p:txBody>
      </p:sp>
      <p:cxnSp>
        <p:nvCxnSpPr>
          <p:cNvPr id="417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086100" y="32480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18D"/>
            </a:solidFill>
            <a:prstDash val="solid"/>
            <a:tailEnd type="arrow" w="sm" len="sm"/>
          </a:ln>
        </p:spPr>
      </p:cxnSp>
      <p:cxnSp>
        <p:nvCxnSpPr>
          <p:cNvPr id="418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924550" y="32480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18D"/>
            </a:solidFill>
            <a:prstDash val="solid"/>
            <a:tailEnd type="arrow" w="sm" len="sm"/>
          </a:ln>
        </p:spPr>
      </p:cxnSp>
      <p:cxnSp>
        <p:nvCxnSpPr>
          <p:cNvPr id="419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763000" y="324802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18D"/>
            </a:solidFill>
            <a:prstDash val="solid"/>
            <a:tail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07A8EC-A36C-406B-95A7-9FE60BEC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95850"/>
            <a:ext cx="9296400" cy="895350"/>
          </a:xfrm>
          <a:prstGeom xmlns:a="http://schemas.openxmlformats.org/drawingml/2006/main" prst="roundRect">
            <a:avLst>
              <a:gd name="adj" fmla="val 17021"/>
            </a:avLst>
          </a:prstGeom>
          <a:gradFill xmlns:a="http://schemas.openxmlformats.org/drawingml/2006/main">
            <a:gsLst>
              <a:gs pos="0">
                <a:srgbClr val="245CFF">
                  <a:alpha val="28000"/>
                </a:srgbClr>
              </a:gs>
              <a:gs pos="100000">
                <a:srgbClr val="00D9C7">
                  <a:alpha val="18000"/>
                </a:srgbClr>
              </a:gs>
            </a:gsLst>
            <a:lin ang="5400000"/>
          </a:gradFill>
          <a:ln xmlns:a="http://schemas.openxmlformats.org/drawingml/2006/main" w="9525">
            <a:solidFill>
              <a:srgbClr val="31518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4AB8FF-CE28-498C-A4DD-6BDDC757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43500"/>
            <a:ext cx="864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7FAFF"/>
                </a:solidFill>
              </a:defRPr>
            </a:pPr>
            <a:r>
              <a:rPr sz="2175" b="1">
                <a:solidFill>
                  <a:srgbClr val="F7FAFF"/>
                </a:solidFill>
              </a:rPr>
              <a:t>让每个 Agent 的行动可授权、可验证、可追溯。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DA1BB2-BE57-4D98-8705-E79EF181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0198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D9C7"/>
                </a:solidFill>
              </a:defRPr>
            </a:pPr>
            <a:r>
              <a:rPr sz="1200" b="1">
                <a:solidFill>
                  <a:srgbClr val="00D9C7"/>
                </a:solidFill>
              </a:rPr>
              <a:t>github.com/yourblacksky/ECS</a:t>
            </a:r>
          </a:p>
        </p:txBody>
      </p:sp>
    </p:spTree>
    <p:extLst>
      <p:ext uri="{BB962C8B-B14F-4D97-AF65-F5344CB8AC3E}">
        <p14:creationId xmlns:p14="http://schemas.microsoft.com/office/powerpoint/2010/main" val="4071051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Microsoft YaHei"/>
        <a:cs typeface="Calibri Light"/>
      </a:majorFont>
      <a:minorFont>
        <a:latin typeface="Calibri"/>
        <a:ea typeface="Microsoft YaHe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ECS Team</dc:creator>
  <lastModifiedBy>ECS Team</lastModifiedBy>
  <dc:title>Presentation</dc:title>
  <dcterms:created xsi:type="dcterms:W3CDTF">2026-08-07T05:49:01.7990000Z</dcterms:created>
  <dcterms:modified xsi:type="dcterms:W3CDTF">2026-08-07T05:49:01.7990000Z</dcterms:modified>
</coreProperties>
</file>